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embeddedFontLst>
    <p:embeddedFont>
      <p:font typeface="Raleway SemiBold"/>
      <p:regular r:id="rId201314"/>
    </p:embeddedFont>
    <p:embeddedFont>
      <p:font typeface="Raleway Bold"/>
      <p:regular r:id="rId201315"/>
    </p:embeddedFont>
    <p:embeddedFont>
      <p:font typeface="Raleway Black"/>
      <p:regular r:id="rId201316"/>
    </p:embeddedFont>
    <p:embeddedFont>
      <p:font typeface="Raleway"/>
      <p:regular r:id="rId201317"/>
    </p:embeddedFont>
    <p:embeddedFont>
      <p:font typeface="Roboto"/>
      <p:regular r:id="rId201318"/>
    </p:embeddedFont>
    <p:embeddedFont>
      <p:font typeface="Roboto SemiBold"/>
      <p:regular r:id="rId201319"/>
    </p:embeddedFont>
    <p:embeddedFont>
      <p:font typeface="Roboto Bold"/>
      <p:regular r:id="rId201320"/>
    </p:embeddedFont>
    <p:embeddedFont>
      <p:font typeface="Roboto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3.png"/><Relationship Id="rId6" Type="http://schemas.openxmlformats.org/officeDocument/2006/relationships/image" Target="../media/image-6-4.svg"/><Relationship Id="rId7" Type="http://schemas.openxmlformats.org/officeDocument/2006/relationships/image" Target="../media/image-6-7.jpe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2.png"/><Relationship Id="rId5" Type="http://schemas.openxmlformats.org/officeDocument/2006/relationships/image" Target="../media/image-7-3.svg"/><Relationship Id="rId6" Type="http://schemas.openxmlformats.org/officeDocument/2006/relationships/image" Target="../media/image-7-2.png"/><Relationship Id="rId7" Type="http://schemas.openxmlformats.org/officeDocument/2006/relationships/image" Target="../media/image-7-3.sv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4.png"/><Relationship Id="rId7" Type="http://schemas.openxmlformats.org/officeDocument/2006/relationships/image" Target="../media/image-9-5.svg"/><Relationship Id="rId8" Type="http://schemas.openxmlformats.org/officeDocument/2006/relationships/image" Target="../media/image-9-8.png"/><Relationship Id="rId9" Type="http://schemas.openxmlformats.org/officeDocument/2006/relationships/image" Target="../media/image-6-8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svg"/><Relationship Id="rId4" Type="http://schemas.openxmlformats.org/officeDocument/2006/relationships/image" Target="../media/image-11-2.png"/><Relationship Id="rId5" Type="http://schemas.openxmlformats.org/officeDocument/2006/relationships/image" Target="../media/image-11-3.svg"/><Relationship Id="rId6" Type="http://schemas.openxmlformats.org/officeDocument/2006/relationships/image" Target="../media/image-11-6.png"/><Relationship Id="rId7" Type="http://schemas.openxmlformats.org/officeDocument/2006/relationships/image" Target="../media/image-11-7.sv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7-9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1.png"/><Relationship Id="rId4" Type="http://schemas.openxmlformats.org/officeDocument/2006/relationships/image" Target="../media/image-13-2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1.png"/><Relationship Id="rId8" Type="http://schemas.openxmlformats.org/officeDocument/2006/relationships/image" Target="../media/image-13-2.svg"/><Relationship Id="rId9" Type="http://schemas.openxmlformats.org/officeDocument/2006/relationships/image" Target="../media/image-13-9.png"/><Relationship Id="rId10" Type="http://schemas.openxmlformats.org/officeDocument/2006/relationships/image" Target="../media/image-13-9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svg"/><Relationship Id="rId4" Type="http://schemas.openxmlformats.org/officeDocument/2006/relationships/image" Target="../media/image-14-2.png"/><Relationship Id="rId5" Type="http://schemas.openxmlformats.org/officeDocument/2006/relationships/image" Target="../media/image-14-3.svg"/><Relationship Id="rId6" Type="http://schemas.openxmlformats.org/officeDocument/2006/relationships/image" Target="../media/image-14-2.png"/><Relationship Id="rId7" Type="http://schemas.openxmlformats.org/officeDocument/2006/relationships/image" Target="../media/image-14-3.svg"/><Relationship Id="rId8" Type="http://schemas.openxmlformats.org/officeDocument/2006/relationships/image" Target="../media/image-14-2.png"/><Relationship Id="rId9" Type="http://schemas.openxmlformats.org/officeDocument/2006/relationships/image" Target="../media/image-14-3.svg"/><Relationship Id="rId10" Type="http://schemas.openxmlformats.org/officeDocument/2006/relationships/image" Target="../media/image-11-8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8.png"/><Relationship Id="rId2" Type="http://schemas.openxmlformats.org/officeDocument/2006/relationships/image" Target="../media/image-15-2.png"/><Relationship Id="rId3" Type="http://schemas.openxmlformats.org/officeDocument/2006/relationships/image" Target="../media/image-15-3.svg"/><Relationship Id="rId4" Type="http://schemas.openxmlformats.org/officeDocument/2006/relationships/image" Target="../media/image-15-2.png"/><Relationship Id="rId5" Type="http://schemas.openxmlformats.org/officeDocument/2006/relationships/image" Target="../media/image-15-3.svg"/><Relationship Id="rId6" Type="http://schemas.openxmlformats.org/officeDocument/2006/relationships/image" Target="../media/image-15-2.png"/><Relationship Id="rId7" Type="http://schemas.openxmlformats.org/officeDocument/2006/relationships/image" Target="../media/image-15-3.sv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image" Target="../media/image-17-2.png"/><Relationship Id="rId3" Type="http://schemas.openxmlformats.org/officeDocument/2006/relationships/image" Target="../media/image-17-3.svg"/><Relationship Id="rId4" Type="http://schemas.openxmlformats.org/officeDocument/2006/relationships/image" Target="../media/image-17-2.png"/><Relationship Id="rId5" Type="http://schemas.openxmlformats.org/officeDocument/2006/relationships/image" Target="../media/image-17-3.svg"/><Relationship Id="rId6" Type="http://schemas.openxmlformats.org/officeDocument/2006/relationships/image" Target="../media/image-17-2.png"/><Relationship Id="rId7" Type="http://schemas.openxmlformats.org/officeDocument/2006/relationships/image" Target="../media/image-17-3.svg"/><Relationship Id="rId8" Type="http://schemas.openxmlformats.org/officeDocument/2006/relationships/image" Target="../media/image-17-2.png"/><Relationship Id="rId9" Type="http://schemas.openxmlformats.org/officeDocument/2006/relationships/image" Target="../media/image-17-3.svg"/><Relationship Id="rId10" Type="http://schemas.openxmlformats.org/officeDocument/2006/relationships/image" Target="../media/image-8-3.png"/><Relationship Id="rId11" Type="http://schemas.openxmlformats.org/officeDocument/2006/relationships/image" Target="../media/image-8-3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1-8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8.png"/><Relationship Id="rId2" Type="http://schemas.openxmlformats.org/officeDocument/2006/relationships/image" Target="../media/image-19-2.png"/><Relationship Id="rId3" Type="http://schemas.openxmlformats.org/officeDocument/2006/relationships/image" Target="../media/image-19-3.svg"/><Relationship Id="rId4" Type="http://schemas.openxmlformats.org/officeDocument/2006/relationships/image" Target="../media/image-19-2.png"/><Relationship Id="rId5" Type="http://schemas.openxmlformats.org/officeDocument/2006/relationships/image" Target="../media/image-19-3.svg"/><Relationship Id="rId6" Type="http://schemas.openxmlformats.org/officeDocument/2006/relationships/image" Target="../media/image-19-2.png"/><Relationship Id="rId7" Type="http://schemas.openxmlformats.org/officeDocument/2006/relationships/image" Target="../media/image-19-3.svg"/><Relationship Id="rId8" Type="http://schemas.openxmlformats.org/officeDocument/2006/relationships/image" Target="../media/image-19-2.png"/><Relationship Id="rId9" Type="http://schemas.openxmlformats.org/officeDocument/2006/relationships/image" Target="../media/image-19-3.svg"/><Relationship Id="rId10" Type="http://schemas.openxmlformats.org/officeDocument/2006/relationships/image" Target="../media/image-19-2.png"/><Relationship Id="rId11" Type="http://schemas.openxmlformats.org/officeDocument/2006/relationships/image" Target="../media/image-19-3.svg"/><Relationship Id="rId12" Type="http://schemas.openxmlformats.org/officeDocument/2006/relationships/image" Target="../media/image-19-2.png"/><Relationship Id="rId13" Type="http://schemas.openxmlformats.org/officeDocument/2006/relationships/image" Target="../media/image-19-3.svg"/><Relationship Id="rId14" Type="http://schemas.openxmlformats.org/officeDocument/2006/relationships/image" Target="../media/image-11-8.pn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cdn.gamma.app/ail09auxti33v5c/7a5661dd14ad43e68b413eb53fa471d0/html/Banking-Agent.html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47" y="491232"/>
            <a:ext cx="4406492" cy="58755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563217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Banking Agentic AI</a:t>
            </a:r>
            <a:endParaRPr lang="en-US" sz="3250" dirty="0"/>
          </a:p>
        </p:txBody>
      </p:sp>
      <p:sp>
        <p:nvSpPr>
          <p:cNvPr id="5" name="Text 2"/>
          <p:cNvSpPr/>
          <p:nvPr/>
        </p:nvSpPr>
        <p:spPr>
          <a:xfrm>
            <a:off x="5233360" y="3327995"/>
            <a:ext cx="629686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From call-centre bottleneck to a production-grade multi-agent banking system — built one layer at a time.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233360" y="4043263"/>
            <a:ext cx="2399843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32577" y="4092873"/>
            <a:ext cx="2810995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CONFERENCE / WORKSHOP EDITION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715851" y="4043263"/>
            <a:ext cx="2927078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15067" y="4092873"/>
            <a:ext cx="333823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CLAUDE CODE IMPLEMENTATION BLUEPRINT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4.2 Lakh Calls a Month — and 65% Are Unnecessary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61475" y="863005"/>
            <a:ext cx="5886997" cy="2729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4.2L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61475" y="1208187"/>
            <a:ext cx="588699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Inbound calls/month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61475" y="1378645"/>
            <a:ext cx="5886997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single month, 420,000 customers pick up the phone.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661475" y="1601688"/>
            <a:ext cx="5886997" cy="2729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65%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61475" y="1946870"/>
            <a:ext cx="588699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Three simple queries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1475" y="2117328"/>
            <a:ext cx="5886997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Account balance · Recent debit confirmation · Cheque-book status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661475" y="2340372"/>
            <a:ext cx="5886997" cy="2729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 min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61475" y="2685554"/>
            <a:ext cx="588699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Avg handling time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61475" y="2856012"/>
            <a:ext cx="5886997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information the app already holds — across 14 screens.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6696900" y="775295"/>
            <a:ext cx="4899101" cy="2226270"/>
          </a:xfrm>
          <a:prstGeom prst="roundRect">
            <a:avLst>
              <a:gd name="adj" fmla="val 2674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779547" y="816570"/>
            <a:ext cx="473380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Opening question for the room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903567" y="1029395"/>
            <a:ext cx="5219371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"If the app already knows the answer, why are customers still calling?"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6779547" y="992188"/>
            <a:ext cx="12700" cy="173534"/>
          </a:xfrm>
          <a:prstGeom prst="roundRect">
            <a:avLst>
              <a:gd name="adj" fmla="val 49999"/>
            </a:avLst>
          </a:prstGeom>
          <a:solidFill>
            <a:srgbClr val="1B1B27"/>
          </a:solidFill>
          <a:ln/>
        </p:spPr>
      </p:sp>
      <p:sp>
        <p:nvSpPr>
          <p:cNvPr id="16" name="Text 14"/>
          <p:cNvSpPr/>
          <p:nvPr/>
        </p:nvSpPr>
        <p:spPr>
          <a:xfrm>
            <a:off x="6779547" y="1212155"/>
            <a:ext cx="4733807" cy="433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6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Root cause:</a:t>
            </a:r>
            <a:pPr algn="l"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6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netbanking app contains the answer distributed across 14 screens. Customers cannot navigate it and call instead — converting a self-service app into a call-centre driver.</a:t>
            </a:r>
            <a:endParaRPr lang="en-US" sz="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Cost implication: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Hundreds of agent-hours per day spent on fully automatable queries. At 4 min/call × 273,000 automatable calls/month, that is over 18,000 agent-hours monthly.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6779547" y="1692275"/>
            <a:ext cx="4733807" cy="214809"/>
          </a:xfrm>
          <a:prstGeom prst="roundRect">
            <a:avLst>
              <a:gd name="adj" fmla="val 16169"/>
            </a:avLst>
          </a:prstGeom>
          <a:solidFill>
            <a:srgbClr val="34344B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2194" y="1758057"/>
            <a:ext cx="103284" cy="82649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048125" y="1750120"/>
            <a:ext cx="4992166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i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Speaker note: Let this question hang. The rest of the deck is the answer.</a:t>
            </a:r>
            <a:endParaRPr lang="en-US" sz="65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3048000"/>
            <a:ext cx="975335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3054"/>
            <a:ext cx="10868745" cy="476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We Want to Build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61475" y="1290836"/>
            <a:ext cx="5248441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Goal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61475" y="1669554"/>
            <a:ext cx="5248441" cy="46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conversational banking agent that answers natural-language queries using live bank data — eliminating the need to call for routine information.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296517"/>
            <a:ext cx="5248441" cy="119052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09119" y="2467967"/>
            <a:ext cx="4829352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Answers from authoritative data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09119" y="2846685"/>
            <a:ext cx="4829352" cy="46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hallucination. Every response must be grounded in live bank system output, not model training knowledge.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627537"/>
            <a:ext cx="5248441" cy="119052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09119" y="3798987"/>
            <a:ext cx="4829352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Grow safely, one layer at a time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909119" y="4177705"/>
            <a:ext cx="4829352" cy="46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premature complexity. Each architectural layer is introduced only when the previous layer reveals a concrete problem.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958556"/>
            <a:ext cx="5248441" cy="119052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09119" y="5130006"/>
            <a:ext cx="4829352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Explainable and reversible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909119" y="5508724"/>
            <a:ext cx="4829352" cy="46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architectural decision must be justifiable to engineering, compliance, and operations teams.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288129" y="1290836"/>
            <a:ext cx="5248441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Mental Model — System Flow</a:t>
            </a:r>
            <a:endParaRPr lang="en-US" sz="15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8129" y="1687116"/>
            <a:ext cx="5248441" cy="226327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641321" y="3521192"/>
            <a:ext cx="1190680" cy="148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Bank Systems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6641321" y="2997280"/>
            <a:ext cx="1190680" cy="148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Banking Agent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6641321" y="2478659"/>
            <a:ext cx="1190680" cy="148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Chat Interface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6641321" y="1954747"/>
            <a:ext cx="1190680" cy="148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6288129" y="4108450"/>
            <a:ext cx="5248441" cy="703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teaching approach mirrors the architecture: introduce each layer only when the previous layer reveals a problem. No component appears without a demonstrated reason.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288129" y="4969867"/>
            <a:ext cx="5248441" cy="1267023"/>
          </a:xfrm>
          <a:prstGeom prst="roundRect">
            <a:avLst>
              <a:gd name="adj" fmla="val 5054"/>
            </a:avLst>
          </a:prstGeom>
          <a:solidFill>
            <a:srgbClr val="E1E1EA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0525" y="5180211"/>
            <a:ext cx="190495" cy="1524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783416" y="5134471"/>
            <a:ext cx="4600758" cy="937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Speaker note: Establish the "problem → solution" rhythm here. Every slide follows this pattern. First live demo: run a minimal "What is my account balance?" interaction — no tools, no auth, just the raw agent.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99566"/>
            <a:ext cx="10868745" cy="460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Step 1 — Naive Agent: One Box, Too Much Responsibility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661475" y="1222276"/>
            <a:ext cx="905150" cy="223838"/>
          </a:xfrm>
          <a:prstGeom prst="roundRect">
            <a:avLst>
              <a:gd name="adj" fmla="val 22111"/>
            </a:avLst>
          </a:prstGeom>
          <a:solidFill>
            <a:srgbClr val="E1E1EA"/>
          </a:solidFill>
          <a:ln/>
        </p:spPr>
      </p:sp>
      <p:sp>
        <p:nvSpPr>
          <p:cNvPr id="4" name="Text 2"/>
          <p:cNvSpPr/>
          <p:nvPr/>
        </p:nvSpPr>
        <p:spPr>
          <a:xfrm>
            <a:off x="749777" y="1266428"/>
            <a:ext cx="1338130" cy="135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STEP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61475" y="1724819"/>
            <a:ext cx="5816058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Architecture: The Simplest Possible Pipeline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02545"/>
            <a:ext cx="5816058" cy="25080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2864" y="4134976"/>
            <a:ext cx="1319452" cy="164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52864" y="3554402"/>
            <a:ext cx="1319452" cy="164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52864" y="2979693"/>
            <a:ext cx="1319452" cy="164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API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52864" y="2399120"/>
            <a:ext cx="1319452" cy="164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Chat UI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61475" y="4758134"/>
            <a:ext cx="5816058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Four nodes. No tools. No authentication. No memory. The agent can only respond from its LLM training knowledge — it has no connection to any bank system.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843244" y="1724819"/>
            <a:ext cx="4693227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Works — and What Breaks Immediately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843244" y="2102545"/>
            <a:ext cx="4693227" cy="1559917"/>
          </a:xfrm>
          <a:prstGeom prst="roundRect">
            <a:avLst>
              <a:gd name="adj" fmla="val 3966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49593" y="2108895"/>
            <a:ext cx="2340214" cy="1547217"/>
          </a:xfrm>
          <a:custGeom>
            <a:avLst/>
            <a:gdLst/>
            <a:ahLst/>
            <a:cxnLst/>
            <a:rect l="l" t="t" r="r" b="b"/>
            <a:pathLst>
              <a:path w="2340214" h="1547217">
                <a:moveTo>
                  <a:pt x="51556" y="0"/>
                </a:moveTo>
                <a:lnTo>
                  <a:pt x="2340214" y="0"/>
                </a:lnTo>
                <a:lnTo>
                  <a:pt x="2340214" y="1547217"/>
                </a:lnTo>
                <a:lnTo>
                  <a:pt x="51556" y="1547217"/>
                </a:lnTo>
                <a:arcTo hR="51557" wR="51556" stAng="5400000" swAng="5400000"/>
                <a:lnTo>
                  <a:pt x="0" y="51557"/>
                </a:lnTo>
                <a:arcTo hR="51557" wR="51556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5" name="Text 12"/>
          <p:cNvSpPr/>
          <p:nvPr/>
        </p:nvSpPr>
        <p:spPr>
          <a:xfrm>
            <a:off x="6996830" y="2256135"/>
            <a:ext cx="2045740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✓ What works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996830" y="2617490"/>
            <a:ext cx="2045740" cy="891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Handles a single, well-scoped question in isolation. The pipeline is simple to deploy and debug.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189808" y="2108895"/>
            <a:ext cx="2340313" cy="1547217"/>
          </a:xfrm>
          <a:custGeom>
            <a:avLst/>
            <a:gdLst/>
            <a:ahLst/>
            <a:cxnLst/>
            <a:rect l="l" t="t" r="r" b="b"/>
            <a:pathLst>
              <a:path w="2340313" h="1547217">
                <a:moveTo>
                  <a:pt x="0" y="0"/>
                </a:moveTo>
                <a:lnTo>
                  <a:pt x="2288758" y="0"/>
                </a:lnTo>
                <a:arcTo hR="51557" wR="51556" stAng="16200000" swAng="5400000"/>
                <a:lnTo>
                  <a:pt x="2340313" y="1495660"/>
                </a:lnTo>
                <a:arcTo hR="51557" wR="51556" stAng="0" swAng="5400000"/>
                <a:lnTo>
                  <a:pt x="0" y="1547217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8" name="Shape 15"/>
          <p:cNvSpPr/>
          <p:nvPr/>
        </p:nvSpPr>
        <p:spPr>
          <a:xfrm>
            <a:off x="9189808" y="2108895"/>
            <a:ext cx="19050" cy="1547217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9" name="Text 16"/>
          <p:cNvSpPr/>
          <p:nvPr/>
        </p:nvSpPr>
        <p:spPr>
          <a:xfrm>
            <a:off x="9337045" y="2256135"/>
            <a:ext cx="2045839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✗ What breaks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337045" y="2617490"/>
            <a:ext cx="2045839" cy="891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agent has no access to bank data. Any query requiring live account information fails immediately.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064099" y="3928070"/>
            <a:ext cx="4472372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Customer: "What is my account balance?"</a:t>
            </a:r>
            <a:endParaRPr lang="en-US" sz="11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Agent: "Sorry, I don't have access to your bank accounts."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843244" y="3810000"/>
            <a:ext cx="19050" cy="681831"/>
          </a:xfrm>
          <a:prstGeom prst="roundRect">
            <a:avLst>
              <a:gd name="adj" fmla="val 49999"/>
            </a:avLst>
          </a:prstGeom>
          <a:solidFill>
            <a:srgbClr val="1B1B27"/>
          </a:solidFill>
          <a:ln/>
        </p:spPr>
      </p:sp>
      <p:sp>
        <p:nvSpPr>
          <p:cNvPr id="23" name="Text 20"/>
          <p:cNvSpPr/>
          <p:nvPr/>
        </p:nvSpPr>
        <p:spPr>
          <a:xfrm>
            <a:off x="6843244" y="4639370"/>
            <a:ext cx="4693227" cy="668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Structural problem:</a:t>
            </a:r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As banking capabilities grow, this single agent becomes a single point of responsibility — and failure. The transition is clear: give the agent tools.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843244" y="5455444"/>
            <a:ext cx="4693227" cy="755452"/>
          </a:xfrm>
          <a:prstGeom prst="roundRect">
            <a:avLst>
              <a:gd name="adj" fmla="val 8189"/>
            </a:avLst>
          </a:prstGeom>
          <a:solidFill>
            <a:srgbClr val="E1E1EA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0481" y="5653286"/>
            <a:ext cx="184046" cy="147241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321764" y="5610324"/>
            <a:ext cx="4067470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15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Speaker note: This is intentionally the "wrong" architecture. Show the demo failure before proposing the fix.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4945"/>
            <a:ext cx="10868745" cy="444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Step 2 — Give the Agent Banking Tools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661475" y="1203325"/>
            <a:ext cx="1011609" cy="215801"/>
          </a:xfrm>
          <a:prstGeom prst="roundRect">
            <a:avLst>
              <a:gd name="adj" fmla="val 22130"/>
            </a:avLst>
          </a:prstGeom>
          <a:solidFill>
            <a:srgbClr val="E1E1EA"/>
          </a:solidFill>
          <a:ln/>
        </p:spPr>
      </p:sp>
      <p:sp>
        <p:nvSpPr>
          <p:cNvPr id="4" name="Text 2"/>
          <p:cNvSpPr/>
          <p:nvPr/>
        </p:nvSpPr>
        <p:spPr>
          <a:xfrm>
            <a:off x="746702" y="1245890"/>
            <a:ext cx="1450740" cy="130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STEP 2–3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744123" y="1203325"/>
            <a:ext cx="744122" cy="215801"/>
          </a:xfrm>
          <a:prstGeom prst="roundRect">
            <a:avLst>
              <a:gd name="adj" fmla="val 22130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9350" y="1245890"/>
            <a:ext cx="1183253" cy="130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DEMO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61475" y="1678583"/>
            <a:ext cx="5036714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Architecture Change: Six Tool Connections</a:t>
            </a:r>
            <a:endParaRPr lang="en-US" sz="13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37953"/>
            <a:ext cx="5036714" cy="26152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864043" y="3062915"/>
            <a:ext cx="621517" cy="559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Agent Hub &amp; Tool Connections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80720" y="2577654"/>
            <a:ext cx="1088897" cy="139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Balance Enquiry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80720" y="2757277"/>
            <a:ext cx="1088897" cy="207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 account balances quickly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4489930" y="2577654"/>
            <a:ext cx="1088897" cy="139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Transaction Details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489930" y="2757277"/>
            <a:ext cx="1088897" cy="207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Retrieve recent transaction history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780720" y="3741162"/>
            <a:ext cx="1088897" cy="139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Statement Request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80720" y="3920785"/>
            <a:ext cx="1088897" cy="207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and send account statements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4489930" y="3741162"/>
            <a:ext cx="1088897" cy="139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Change of Address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489930" y="3920785"/>
            <a:ext cx="1088897" cy="207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Update customer mailing address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6051200" y="1678583"/>
            <a:ext cx="5485271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Six Banking Tools Exposed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051200" y="2037953"/>
            <a:ext cx="2681518" cy="518914"/>
          </a:xfrm>
          <a:prstGeom prst="roundRect">
            <a:avLst>
              <a:gd name="adj" fmla="val 1150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99628" y="2186384"/>
            <a:ext cx="2384663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Balance Enquiry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8854853" y="2037953"/>
            <a:ext cx="2681617" cy="518914"/>
          </a:xfrm>
          <a:prstGeom prst="roundRect">
            <a:avLst>
              <a:gd name="adj" fmla="val 1150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003281" y="2186384"/>
            <a:ext cx="2384762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Transaction Details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051200" y="2679005"/>
            <a:ext cx="2681518" cy="518914"/>
          </a:xfrm>
          <a:prstGeom prst="roundRect">
            <a:avLst>
              <a:gd name="adj" fmla="val 1150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99628" y="2827437"/>
            <a:ext cx="2384663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Statement Request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8854853" y="2679005"/>
            <a:ext cx="2681617" cy="518914"/>
          </a:xfrm>
          <a:prstGeom prst="roundRect">
            <a:avLst>
              <a:gd name="adj" fmla="val 1150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003281" y="2827437"/>
            <a:ext cx="2384762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Change of Address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6051200" y="3320058"/>
            <a:ext cx="2681518" cy="518914"/>
          </a:xfrm>
          <a:prstGeom prst="roundRect">
            <a:avLst>
              <a:gd name="adj" fmla="val 1150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199628" y="3468489"/>
            <a:ext cx="2384663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Cheque Book Request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8854853" y="3320058"/>
            <a:ext cx="2681617" cy="518914"/>
          </a:xfrm>
          <a:prstGeom prst="roundRect">
            <a:avLst>
              <a:gd name="adj" fmla="val 1150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003281" y="3468489"/>
            <a:ext cx="2384762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KYC Update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6051200" y="3976291"/>
            <a:ext cx="5485271" cy="1167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spcAft>
                <a:spcPts val="850"/>
              </a:spcAft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How it works:</a:t>
            </a:r>
            <a:pPr algn="l" indent="0" marL="0">
              <a:lnSpc>
                <a:spcPct val="124000"/>
              </a:lnSpc>
              <a:spcAft>
                <a:spcPts val="850"/>
              </a:spcAft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LLM decides which tool to invoke based on the user's natural-language intent. The balance query now succeeds — live data is returned from the banking API.</a:t>
            </a:r>
            <a:endParaRPr lang="en-US" sz="110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New problem surfacing:</a:t>
            </a:r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One agent now has unrestricted access to all six tools across all banking domains. A single misconfigured prompt could invoke any tool for any user.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051200" y="5280620"/>
            <a:ext cx="5485271" cy="925016"/>
          </a:xfrm>
          <a:prstGeom prst="roundRect">
            <a:avLst>
              <a:gd name="adj" fmla="val 6453"/>
            </a:avLst>
          </a:prstGeom>
          <a:solidFill>
            <a:srgbClr val="E1E1EA"/>
          </a:solidFill>
          <a:ln/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3278" y="5466358"/>
            <a:ext cx="177597" cy="142081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6512953" y="5425976"/>
            <a:ext cx="4881440" cy="6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Speaker note: Celebrate the win briefly, then immediately surface the "too much access" problem to set up the next slide. Demo: Balance enquiry via the tool path — show the tool call in the trace.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867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Step 3 — Problem: One Agent Does Everything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61475" y="1098550"/>
            <a:ext cx="883819" cy="188516"/>
          </a:xfrm>
          <a:prstGeom prst="roundRect">
            <a:avLst>
              <a:gd name="adj" fmla="val 22109"/>
            </a:avLst>
          </a:prstGeom>
          <a:solidFill>
            <a:srgbClr val="E1E1EA"/>
          </a:solidFill>
          <a:ln/>
        </p:spPr>
      </p:sp>
      <p:sp>
        <p:nvSpPr>
          <p:cNvPr id="4" name="Text 2"/>
          <p:cNvSpPr/>
          <p:nvPr/>
        </p:nvSpPr>
        <p:spPr>
          <a:xfrm>
            <a:off x="735887" y="1135757"/>
            <a:ext cx="1344579" cy="114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PROBLEM SLIDE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61475" y="1484610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Scaling Problem — Three Failure Modes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782961"/>
            <a:ext cx="5283068" cy="10810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8994" y="1919684"/>
            <a:ext cx="495882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Cognitive overload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8994" y="2206427"/>
            <a:ext cx="4958829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prompt must describe every tool, every domain, every edge case. Prompt bloat directly degrades the model's reasoning quality as the context window fills with irrelevant instructions.</a:t>
            </a:r>
            <a:endParaRPr lang="en-US" sz="9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957016"/>
            <a:ext cx="5283068" cy="90745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48994" y="3093740"/>
            <a:ext cx="495882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separation of concern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48994" y="3380482"/>
            <a:ext cx="4958829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accounts query and a KYC update share the same agent context. A bug in one domain's tool handling can corrupt state in another domain — silently.</a:t>
            </a:r>
            <a:endParaRPr lang="en-US" sz="9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957439"/>
            <a:ext cx="5283068" cy="90745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48994" y="4094163"/>
            <a:ext cx="495882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Audit and compliance risk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848994" y="4380905"/>
            <a:ext cx="4958829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 cannot restrict what the agent can do per request. Every user implicitly has access to every tool — there is no principle of least privilege in this architecture.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253502" y="1484610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Cross-Domain Exposure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3502" y="1782961"/>
            <a:ext cx="5283068" cy="29718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39533" y="4942979"/>
            <a:ext cx="5097037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"What is my balance AND show me my last 5 transactions?" — A cross-domain request. The single agent must juggle both domains simultaneously with no isolation between them.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6253502" y="4859338"/>
            <a:ext cx="12700" cy="514548"/>
          </a:xfrm>
          <a:prstGeom prst="roundRect">
            <a:avLst>
              <a:gd name="adj" fmla="val 49999"/>
            </a:avLst>
          </a:prstGeom>
          <a:solidFill>
            <a:srgbClr val="1B1B27"/>
          </a:solidFill>
          <a:ln/>
        </p:spPr>
      </p:sp>
      <p:sp>
        <p:nvSpPr>
          <p:cNvPr id="19" name="Shape 13"/>
          <p:cNvSpPr/>
          <p:nvPr/>
        </p:nvSpPr>
        <p:spPr>
          <a:xfrm>
            <a:off x="6253502" y="5478462"/>
            <a:ext cx="5283068" cy="750094"/>
          </a:xfrm>
          <a:prstGeom prst="roundRect">
            <a:avLst>
              <a:gd name="adj" fmla="val 6946"/>
            </a:avLst>
          </a:prstGeom>
          <a:solidFill>
            <a:srgbClr val="E1E1EA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7522" y="5620841"/>
            <a:ext cx="154976" cy="12402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656519" y="5593060"/>
            <a:ext cx="4756031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Speaker note: The crowded agent diagram is intentional — the visual mess is the point. Ask the audience: "What happens when a request needs two banking domains at once?"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06809"/>
            <a:ext cx="10868745" cy="363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Step 4 — Split by Banking Domain: Specialist Agents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661475" y="1033661"/>
            <a:ext cx="714655" cy="176609"/>
          </a:xfrm>
          <a:prstGeom prst="roundRect">
            <a:avLst>
              <a:gd name="adj" fmla="val 22124"/>
            </a:avLst>
          </a:prstGeom>
          <a:solidFill>
            <a:srgbClr val="E1E1EA"/>
          </a:solidFill>
          <a:ln/>
        </p:spPr>
      </p:sp>
      <p:sp>
        <p:nvSpPr>
          <p:cNvPr id="4" name="Text 2"/>
          <p:cNvSpPr/>
          <p:nvPr/>
        </p:nvSpPr>
        <p:spPr>
          <a:xfrm>
            <a:off x="731224" y="1068487"/>
            <a:ext cx="1184741" cy="106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STEP 4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434270" y="1033661"/>
            <a:ext cx="608989" cy="176609"/>
          </a:xfrm>
          <a:prstGeom prst="roundRect">
            <a:avLst>
              <a:gd name="adj" fmla="val 22124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04019" y="1068487"/>
            <a:ext cx="1079076" cy="106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DEMO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61475" y="1384002"/>
            <a:ext cx="5850188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Architecture Change: One General → Three Specialist Agents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57648"/>
            <a:ext cx="5850188" cy="303758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19778" y="2766933"/>
            <a:ext cx="721896" cy="812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Top-Down Chat → API → Agent Architecture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99984" y="2284514"/>
            <a:ext cx="1264761" cy="162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Accounts Agent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99984" y="2493147"/>
            <a:ext cx="1264761" cy="221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Handles balance enquiries only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108257" y="2284514"/>
            <a:ext cx="1264761" cy="162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Transaction Agent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108257" y="2493147"/>
            <a:ext cx="1264761" cy="221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Transaction details and statements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799984" y="3635937"/>
            <a:ext cx="1264761" cy="162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Service Agent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99984" y="3844570"/>
            <a:ext cx="1264761" cy="221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Address, cheque book, KYC updates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108257" y="3635937"/>
            <a:ext cx="1264761" cy="162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LLM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108257" y="3844570"/>
            <a:ext cx="1264761" cy="221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Shared model (dashed connections)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801573" y="1384002"/>
            <a:ext cx="4734898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Domain Boundaries and Benefits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801573" y="1657648"/>
            <a:ext cx="2326522" cy="983754"/>
          </a:xfrm>
          <a:prstGeom prst="roundRect">
            <a:avLst>
              <a:gd name="adj" fmla="val 496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24204" y="1780282"/>
            <a:ext cx="2081260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Accounts Agent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924204" y="2043708"/>
            <a:ext cx="2081260" cy="475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Balance Enquiry only. Minimal system prompt. No awareness of transactions or service operations.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209849" y="1657648"/>
            <a:ext cx="2326621" cy="983754"/>
          </a:xfrm>
          <a:prstGeom prst="roundRect">
            <a:avLst>
              <a:gd name="adj" fmla="val 496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332481" y="1780282"/>
            <a:ext cx="2081359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Transaction Agent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332481" y="2043708"/>
            <a:ext cx="2081359" cy="475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Transaction Details + Statement Request. Scoped to transaction history domain exclusively.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801573" y="2723158"/>
            <a:ext cx="4734898" cy="825401"/>
          </a:xfrm>
          <a:prstGeom prst="roundRect">
            <a:avLst>
              <a:gd name="adj" fmla="val 591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24204" y="2845792"/>
            <a:ext cx="4489635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Service Agent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924204" y="3109218"/>
            <a:ext cx="4489635" cy="316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Change of Address + Cheque Book Request + KYC Update. All service operations in one isolated domain.</a:t>
            </a:r>
            <a:endParaRPr lang="en-US" sz="90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45129" y="3646239"/>
            <a:ext cx="174422" cy="174427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179488" y="3640534"/>
            <a:ext cx="4356983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Focused system prompts → better reasoning, smaller context</a:t>
            </a:r>
            <a:endParaRPr lang="en-US" sz="9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45129" y="4164360"/>
            <a:ext cx="174422" cy="174427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7179488" y="4158655"/>
            <a:ext cx="4356983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Tool access restricted by domain → principle of least privilege</a:t>
            </a:r>
            <a:endParaRPr lang="en-US" sz="9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45129" y="4682480"/>
            <a:ext cx="174422" cy="174427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179488" y="4676775"/>
            <a:ext cx="4356983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Failures isolated → a Service Agent bug cannot affect Accounts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6801573" y="5123359"/>
            <a:ext cx="4734898" cy="521891"/>
          </a:xfrm>
          <a:prstGeom prst="roundRect">
            <a:avLst>
              <a:gd name="adj" fmla="val 9359"/>
            </a:avLst>
          </a:prstGeom>
          <a:solidFill>
            <a:srgbClr val="FCF2B5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17854" y="5246688"/>
            <a:ext cx="145352" cy="11628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179488" y="5225951"/>
            <a:ext cx="4240702" cy="316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New problem:</a:t>
            </a:r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Who decides which specialist to call? Someone still has to coordinate them.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6801573" y="5737225"/>
            <a:ext cx="4734898" cy="521891"/>
          </a:xfrm>
          <a:prstGeom prst="roundRect">
            <a:avLst>
              <a:gd name="adj" fmla="val 9359"/>
            </a:avLst>
          </a:prstGeom>
          <a:solidFill>
            <a:srgbClr val="E1E1EA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17854" y="5860554"/>
            <a:ext cx="145352" cy="11628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179488" y="5839817"/>
            <a:ext cx="4240702" cy="316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90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Speaker note: The specialist split is the right instinct. The missing piece is the coordinator — set it up as the obvious next step.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97780"/>
            <a:ext cx="10868745" cy="347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Step 5 — Coordinator Agent: The Decision-Maker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661475" y="994370"/>
            <a:ext cx="683302" cy="168870"/>
          </a:xfrm>
          <a:prstGeom prst="roundRect">
            <a:avLst>
              <a:gd name="adj" fmla="val 22110"/>
            </a:avLst>
          </a:prstGeom>
          <a:solidFill>
            <a:srgbClr val="E1E1EA"/>
          </a:solidFill>
          <a:ln/>
        </p:spPr>
      </p:sp>
      <p:sp>
        <p:nvSpPr>
          <p:cNvPr id="4" name="Text 2"/>
          <p:cNvSpPr/>
          <p:nvPr/>
        </p:nvSpPr>
        <p:spPr>
          <a:xfrm>
            <a:off x="728148" y="1027708"/>
            <a:ext cx="1159541" cy="10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STEP 5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1400338" y="994370"/>
            <a:ext cx="582300" cy="168870"/>
          </a:xfrm>
          <a:prstGeom prst="roundRect">
            <a:avLst>
              <a:gd name="adj" fmla="val 22110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7012" y="1027708"/>
            <a:ext cx="1058538" cy="10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DEMO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61475" y="1321792"/>
            <a:ext cx="5855744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Architecture: Coordinator Sits Above All Specialists</a:t>
            </a:r>
            <a:endParaRPr lang="en-US" sz="10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579364"/>
            <a:ext cx="5855744" cy="267989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950820" y="1940345"/>
            <a:ext cx="1295340" cy="161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Specialists &amp; Tools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950820" y="2148324"/>
            <a:ext cx="1427753" cy="216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Accounts, Transaction, Service and their tools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17246" y="2821198"/>
            <a:ext cx="1295340" cy="161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LLM (Side)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99975" y="3029178"/>
            <a:ext cx="1312611" cy="216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87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Classifies intent; dashed-link to coordinator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950820" y="3276018"/>
            <a:ext cx="1295340" cy="161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Coordinator Agent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950820" y="3483997"/>
            <a:ext cx="1427753" cy="216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Decision-maker coordinating specialists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794628" y="1321792"/>
            <a:ext cx="4741843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Coordinator Responsibilities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794628" y="1579364"/>
            <a:ext cx="222244" cy="1389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794628" y="1755577"/>
            <a:ext cx="4741843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8" name="Text 15"/>
          <p:cNvSpPr/>
          <p:nvPr/>
        </p:nvSpPr>
        <p:spPr>
          <a:xfrm>
            <a:off x="6794628" y="1836539"/>
            <a:ext cx="4741843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Parse user intent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794628" y="2084784"/>
            <a:ext cx="4741843" cy="148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Natural-language input is classified into one or more banking domains via the LLM.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794628" y="2391370"/>
            <a:ext cx="222244" cy="1389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794628" y="2567583"/>
            <a:ext cx="4741843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2" name="Text 19"/>
          <p:cNvSpPr/>
          <p:nvPr/>
        </p:nvSpPr>
        <p:spPr>
          <a:xfrm>
            <a:off x="6794628" y="2648545"/>
            <a:ext cx="4741843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Identify specialist(s) needed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794628" y="2896791"/>
            <a:ext cx="4741843" cy="148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Single-domain: route directly. Multi-domain: dispatch to multiple specialists.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794628" y="3203377"/>
            <a:ext cx="222244" cy="1389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794628" y="3379589"/>
            <a:ext cx="4741843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6" name="Text 23"/>
          <p:cNvSpPr/>
          <p:nvPr/>
        </p:nvSpPr>
        <p:spPr>
          <a:xfrm>
            <a:off x="6794628" y="3460552"/>
            <a:ext cx="4741843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Dispatch in parallel or sequence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794628" y="3708797"/>
            <a:ext cx="4741843" cy="148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Balance + last 5 transactions → Accounts Agent AND Transaction Agent called simultaneously.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794628" y="4015383"/>
            <a:ext cx="222244" cy="1389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794628" y="4191595"/>
            <a:ext cx="4741843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0" name="Text 27"/>
          <p:cNvSpPr/>
          <p:nvPr/>
        </p:nvSpPr>
        <p:spPr>
          <a:xfrm>
            <a:off x="6794628" y="4272558"/>
            <a:ext cx="4741843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Merge and synthesise results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794628" y="4520803"/>
            <a:ext cx="4741843" cy="148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Coordinator assembles a coherent, unified response from multiple specialist outputs.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6794628" y="4836716"/>
            <a:ext cx="4741843" cy="487164"/>
          </a:xfrm>
          <a:prstGeom prst="roundRect">
            <a:avLst>
              <a:gd name="adj" fmla="val 9580"/>
            </a:avLst>
          </a:prstGeom>
          <a:solidFill>
            <a:srgbClr val="B6FCB8"/>
          </a:solidFill>
          <a:ln/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750" y="4949825"/>
            <a:ext cx="138903" cy="111125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7155775" y="4931668"/>
            <a:ext cx="4269574" cy="297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 the first architecture that actually works for real banking queries. The coordinator solves the routing problem the specialist split created.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6794628" y="5407819"/>
            <a:ext cx="4741843" cy="297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8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Remaining problem:</a:t>
            </a:r>
            <a:pPr algn="l" indent="0" marL="0">
              <a:lnSpc>
                <a:spcPct val="111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Agents and tool implementations are tightly coupled — changing a tool requires changing the agent code directly.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6794628" y="5789017"/>
            <a:ext cx="4741843" cy="487164"/>
          </a:xfrm>
          <a:prstGeom prst="roundRect">
            <a:avLst>
              <a:gd name="adj" fmla="val 9580"/>
            </a:avLst>
          </a:prstGeom>
          <a:solidFill>
            <a:srgbClr val="E1E1EA"/>
          </a:solidFill>
          <a:ln/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750" y="5902127"/>
            <a:ext cx="138903" cy="111125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7155775" y="5883970"/>
            <a:ext cx="4269574" cy="297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Speaker note: Pause here — it's a milestone. Demo: Walk the mixed balance + transactions request end-to-end with the coordinator visible in the trace.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8927"/>
            <a:ext cx="10868745" cy="39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Step 6 — MCP: Loosely Coupled Tool Boundaries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661475" y="1208484"/>
            <a:ext cx="777856" cy="192286"/>
          </a:xfrm>
          <a:prstGeom prst="roundRect">
            <a:avLst>
              <a:gd name="adj" fmla="val 22127"/>
            </a:avLst>
          </a:prstGeom>
          <a:solidFill>
            <a:srgbClr val="E1E1EA"/>
          </a:solidFill>
          <a:ln/>
        </p:spPr>
      </p:sp>
      <p:sp>
        <p:nvSpPr>
          <p:cNvPr id="4" name="Text 2"/>
          <p:cNvSpPr/>
          <p:nvPr/>
        </p:nvSpPr>
        <p:spPr>
          <a:xfrm>
            <a:off x="737375" y="1246386"/>
            <a:ext cx="1235639" cy="116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STEP 6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1502630" y="1208484"/>
            <a:ext cx="662864" cy="192286"/>
          </a:xfrm>
          <a:prstGeom prst="roundRect">
            <a:avLst>
              <a:gd name="adj" fmla="val 22127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78531" y="1246386"/>
            <a:ext cx="1120648" cy="116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DEMO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61475" y="1606748"/>
            <a:ext cx="5279893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MCP: Model Context Protocol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1475" y="1901428"/>
            <a:ext cx="5279893" cy="357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standard interface layer between agents and tool implementations. MCP decouples </a:t>
            </a:r>
            <a:pPr algn="l" indent="0" marL="0">
              <a:lnSpc>
                <a:spcPct val="118000"/>
              </a:lnSpc>
              <a:buNone/>
            </a:pPr>
            <a:r>
              <a:rPr lang="en-US" sz="9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</a:t>
            </a:r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agent asks from </a:t>
            </a:r>
            <a:pPr algn="l" indent="0" marL="0">
              <a:lnSpc>
                <a:spcPct val="118000"/>
              </a:lnSpc>
              <a:buNone/>
            </a:pPr>
            <a:r>
              <a:rPr lang="en-US" sz="9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</a:t>
            </a:r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tool responds.</a:t>
            </a:r>
            <a:endParaRPr lang="en-US" sz="9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368054"/>
            <a:ext cx="5279893" cy="297001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256677" y="1606748"/>
            <a:ext cx="5279893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Architecture Change and Benefits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6677" y="1913533"/>
            <a:ext cx="5279893" cy="75207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46775" y="2052836"/>
            <a:ext cx="4950495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Tool implementations change without touching agent code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446775" y="2347516"/>
            <a:ext cx="4950495" cy="178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Upgrade a banking API backend? Update the MCP server. The agent is unaffected.</a:t>
            </a:r>
            <a:endParaRPr lang="en-US" sz="9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56677" y="2762548"/>
            <a:ext cx="5279893" cy="93087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46775" y="2901851"/>
            <a:ext cx="4950495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MCP servers versioned and deployed independently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446775" y="3196530"/>
            <a:ext cx="4950495" cy="357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MCP server can be tested, rolled back, and scaled independently from the agent layer above it.</a:t>
            </a:r>
            <a:endParaRPr lang="en-US" sz="9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56677" y="3790355"/>
            <a:ext cx="5279893" cy="93087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46775" y="3929658"/>
            <a:ext cx="4950495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New tools without rewriting the agent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446775" y="4224338"/>
            <a:ext cx="4950495" cy="357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a new capability to an MCP server; the agent discovers it via the protocol without code changes.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6256677" y="4830266"/>
            <a:ext cx="5279893" cy="595313"/>
          </a:xfrm>
          <a:prstGeom prst="roundRect">
            <a:avLst>
              <a:gd name="adj" fmla="val 8934"/>
            </a:avLst>
          </a:prstGeom>
          <a:solidFill>
            <a:srgbClr val="FCF2B5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3277" y="4975027"/>
            <a:ext cx="158250" cy="12660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668127" y="4949130"/>
            <a:ext cx="4741843" cy="357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Next gap:</a:t>
            </a:r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system now has capability — but it still does not know </a:t>
            </a:r>
            <a:pPr algn="l" indent="0" marL="0">
              <a:lnSpc>
                <a:spcPct val="118000"/>
              </a:lnSpc>
              <a:buNone/>
            </a:pPr>
            <a:r>
              <a:rPr lang="en-US" sz="95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who</a:t>
            </a:r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asking. Any user can query any account.</a:t>
            </a:r>
            <a:endParaRPr lang="en-US" sz="950" dirty="0"/>
          </a:p>
        </p:txBody>
      </p:sp>
      <p:sp>
        <p:nvSpPr>
          <p:cNvPr id="23" name="Shape 16"/>
          <p:cNvSpPr/>
          <p:nvPr/>
        </p:nvSpPr>
        <p:spPr>
          <a:xfrm>
            <a:off x="6256677" y="5534620"/>
            <a:ext cx="5279893" cy="595313"/>
          </a:xfrm>
          <a:prstGeom prst="roundRect">
            <a:avLst>
              <a:gd name="adj" fmla="val 8934"/>
            </a:avLst>
          </a:prstGeom>
          <a:solidFill>
            <a:srgbClr val="E1E1EA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3277" y="5679380"/>
            <a:ext cx="158250" cy="126603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668127" y="5653484"/>
            <a:ext cx="4741843" cy="357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Speaker note: MCP is the architectural boundary that makes the system production-maintainable. Emphasise the decoupling benefit for the Claude Code build.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7299"/>
            <a:ext cx="10868745" cy="306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Step 7 — Authentication: The System Must Know Who Is Asking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661475" y="880666"/>
            <a:ext cx="603235" cy="149027"/>
          </a:xfrm>
          <a:prstGeom prst="roundRect">
            <a:avLst>
              <a:gd name="adj" fmla="val 22141"/>
            </a:avLst>
          </a:prstGeom>
          <a:solidFill>
            <a:srgbClr val="E1E1EA"/>
          </a:solidFill>
          <a:ln/>
        </p:spPr>
      </p:sp>
      <p:sp>
        <p:nvSpPr>
          <p:cNvPr id="4" name="Text 2"/>
          <p:cNvSpPr/>
          <p:nvPr/>
        </p:nvSpPr>
        <p:spPr>
          <a:xfrm>
            <a:off x="720310" y="910034"/>
            <a:ext cx="1095149" cy="90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STEP 7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1313723" y="880666"/>
            <a:ext cx="514039" cy="149027"/>
          </a:xfrm>
          <a:prstGeom prst="roundRect">
            <a:avLst>
              <a:gd name="adj" fmla="val 22141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2558" y="910034"/>
            <a:ext cx="1005954" cy="90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DEMO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661475" y="1153517"/>
            <a:ext cx="5870031" cy="153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Authentication Flow with Token Propagation</a:t>
            </a:r>
            <a:endParaRPr lang="en-US" sz="9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372493"/>
            <a:ext cx="5870031" cy="465980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061321" y="3199066"/>
            <a:ext cx="1054880" cy="964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Authentication &amp; Token Propagation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099048" y="1935912"/>
            <a:ext cx="1569322" cy="241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099048" y="2245737"/>
            <a:ext cx="1569322" cy="153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Initiates session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483290" y="1738385"/>
            <a:ext cx="1569321" cy="482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Transaction Agent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83290" y="2289423"/>
            <a:ext cx="1569321" cy="307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Receives propagated token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483290" y="4800186"/>
            <a:ext cx="1569321" cy="482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Coordinator Agent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483290" y="5351224"/>
            <a:ext cx="1569321" cy="307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Locks context and forwards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099048" y="4997713"/>
            <a:ext cx="1569322" cy="241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API Gateway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099048" y="5307538"/>
            <a:ext cx="1569322" cy="153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Validates token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65081" y="3445371"/>
            <a:ext cx="1603626" cy="241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Bank IdP / LDAP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665081" y="3755196"/>
            <a:ext cx="1603626" cy="15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Issues auth token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08680" y="3377027"/>
            <a:ext cx="1603626" cy="241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Accounts Agent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908680" y="3686852"/>
            <a:ext cx="1603626" cy="307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Receives propagated token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61475" y="6097885"/>
            <a:ext cx="5870031" cy="250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Implementation note:</a:t>
            </a:r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Customer ID is collected at session start. All downstream tool calls carry the authenticated context — no specialist operates without a verified identity token.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6777364" y="1153517"/>
            <a:ext cx="4759206" cy="153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Identity Enables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777364" y="1372493"/>
            <a:ext cx="2350433" cy="921445"/>
          </a:xfrm>
          <a:prstGeom prst="roundRect">
            <a:avLst>
              <a:gd name="adj" fmla="val 4476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81839" y="1476970"/>
            <a:ext cx="2141484" cy="153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Scoped data access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881839" y="1688604"/>
            <a:ext cx="2141484" cy="500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is returned only for the authenticated account holder. Cross-account queries are blocked at the coordinator before any tool is invoked.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9186037" y="1372493"/>
            <a:ext cx="2350533" cy="921445"/>
          </a:xfrm>
          <a:prstGeom prst="roundRect">
            <a:avLst>
              <a:gd name="adj" fmla="val 4476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290512" y="1476970"/>
            <a:ext cx="2141583" cy="153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Per-user permission enforcement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9290512" y="1688604"/>
            <a:ext cx="2141583" cy="375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Elevated operations (e.g. credit limit increase) require elevated authentication — standard tokens are rejected.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6777364" y="2352179"/>
            <a:ext cx="4759206" cy="545802"/>
          </a:xfrm>
          <a:prstGeom prst="roundRect">
            <a:avLst>
              <a:gd name="adj" fmla="val 755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881839" y="2456656"/>
            <a:ext cx="4550256" cy="153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Verified audit trail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6881839" y="2668290"/>
            <a:ext cx="4550256" cy="125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agent action is tied to a verified identity — required for RBI and internal compliance reporting.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6777364" y="2963565"/>
            <a:ext cx="4759206" cy="671016"/>
          </a:xfrm>
          <a:prstGeom prst="roundRect">
            <a:avLst>
              <a:gd name="adj" fmla="val 614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83714" y="2969915"/>
            <a:ext cx="2373253" cy="658316"/>
          </a:xfrm>
          <a:custGeom>
            <a:avLst/>
            <a:gdLst/>
            <a:ahLst/>
            <a:cxnLst/>
            <a:rect l="l" t="t" r="r" b="b"/>
            <a:pathLst>
              <a:path w="2373253" h="658316">
                <a:moveTo>
                  <a:pt x="34370" y="0"/>
                </a:moveTo>
                <a:lnTo>
                  <a:pt x="2373253" y="0"/>
                </a:lnTo>
                <a:lnTo>
                  <a:pt x="2373253" y="658316"/>
                </a:lnTo>
                <a:lnTo>
                  <a:pt x="34370" y="658316"/>
                </a:lnTo>
                <a:arcTo hR="34371" wR="34370" stAng="5400000" swAng="5400000"/>
                <a:lnTo>
                  <a:pt x="0" y="34371"/>
                </a:lnTo>
                <a:arcTo hR="34371" wR="34370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35" name="Text 32"/>
          <p:cNvSpPr/>
          <p:nvPr/>
        </p:nvSpPr>
        <p:spPr>
          <a:xfrm>
            <a:off x="6881839" y="3068042"/>
            <a:ext cx="2177003" cy="153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John (standard)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6881839" y="3279676"/>
            <a:ext cx="2177003" cy="125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Requests credit limit increase → </a:t>
            </a:r>
            <a:pPr algn="l" indent="0" marL="0">
              <a:lnSpc>
                <a:spcPct val="106000"/>
              </a:lnSpc>
              <a:buNone/>
            </a:pPr>
            <a:r>
              <a:rPr lang="en-US" sz="7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Approved ✓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9156967" y="2969915"/>
            <a:ext cx="2373253" cy="658316"/>
          </a:xfrm>
          <a:custGeom>
            <a:avLst/>
            <a:gdLst/>
            <a:ahLst/>
            <a:cxnLst/>
            <a:rect l="l" t="t" r="r" b="b"/>
            <a:pathLst>
              <a:path w="2373253" h="658316">
                <a:moveTo>
                  <a:pt x="0" y="0"/>
                </a:moveTo>
                <a:lnTo>
                  <a:pt x="2338883" y="0"/>
                </a:lnTo>
                <a:arcTo hR="34371" wR="34370" stAng="16200000" swAng="5400000"/>
                <a:lnTo>
                  <a:pt x="2373253" y="623945"/>
                </a:lnTo>
                <a:arcTo hR="34371" wR="34370" stAng="0" swAng="5400000"/>
                <a:lnTo>
                  <a:pt x="0" y="658316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38" name="Shape 35"/>
          <p:cNvSpPr/>
          <p:nvPr/>
        </p:nvSpPr>
        <p:spPr>
          <a:xfrm>
            <a:off x="9156967" y="2969915"/>
            <a:ext cx="12700" cy="658316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39" name="Text 36"/>
          <p:cNvSpPr/>
          <p:nvPr/>
        </p:nvSpPr>
        <p:spPr>
          <a:xfrm>
            <a:off x="9255092" y="3068042"/>
            <a:ext cx="2177003" cy="153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Sancy (restricted)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9255092" y="3279676"/>
            <a:ext cx="2177003" cy="250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Same request → </a:t>
            </a:r>
            <a:pPr algn="l" indent="0" marL="0">
              <a:lnSpc>
                <a:spcPct val="106000"/>
              </a:lnSpc>
              <a:buNone/>
            </a:pPr>
            <a:r>
              <a:rPr lang="en-US" sz="7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Elevated auth required ✗</a:t>
            </a:r>
            <a:pPr algn="l" indent="0" marL="0">
              <a:lnSpc>
                <a:spcPct val="106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redirected to customer support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6777364" y="3700165"/>
            <a:ext cx="4759206" cy="404217"/>
          </a:xfrm>
          <a:prstGeom prst="roundRect">
            <a:avLst>
              <a:gd name="adj" fmla="val 10204"/>
            </a:avLst>
          </a:prstGeom>
          <a:solidFill>
            <a:srgbClr val="E1E1EA"/>
          </a:solidFill>
          <a:ln/>
        </p:spPr>
      </p:sp>
      <p:pic>
        <p:nvPicPr>
          <p:cNvPr id="4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5489" y="3785890"/>
            <a:ext cx="122731" cy="98127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7096344" y="3777059"/>
            <a:ext cx="4342101" cy="250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5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Speaker note: Authentication is non-negotiable in banking. The John vs Sancy contrast makes the permission model concrete and memorable.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72678"/>
            <a:ext cx="10868745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Step 8 — Session + Memory: State That Persists Across Turns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661475" y="827088"/>
            <a:ext cx="731125" cy="129480"/>
          </a:xfrm>
          <a:prstGeom prst="roundRect">
            <a:avLst>
              <a:gd name="adj" fmla="val 22130"/>
            </a:avLst>
          </a:prstGeom>
          <a:solidFill>
            <a:srgbClr val="E1E1EA"/>
          </a:solidFill>
          <a:ln/>
        </p:spPr>
      </p:sp>
      <p:sp>
        <p:nvSpPr>
          <p:cNvPr id="4" name="Text 2"/>
          <p:cNvSpPr/>
          <p:nvPr/>
        </p:nvSpPr>
        <p:spPr>
          <a:xfrm>
            <a:off x="712571" y="852587"/>
            <a:ext cx="1238517" cy="78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STEP 7 CONT.</a:t>
            </a:r>
            <a:endParaRPr lang="en-US" sz="500" dirty="0"/>
          </a:p>
        </p:txBody>
      </p:sp>
      <p:sp>
        <p:nvSpPr>
          <p:cNvPr id="5" name="Text 3"/>
          <p:cNvSpPr/>
          <p:nvPr/>
        </p:nvSpPr>
        <p:spPr>
          <a:xfrm>
            <a:off x="661475" y="1049933"/>
            <a:ext cx="5330394" cy="133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Problem: Stateless Conversations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89365" y="1271984"/>
            <a:ext cx="5202504" cy="310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Sanjay: "What happened with the suspicious transaction I flagged last week?"</a:t>
            </a:r>
            <a:endParaRPr lang="en-US" sz="650" dirty="0"/>
          </a:p>
          <a:p>
            <a:pPr algn="l" indent="0" marL="0">
              <a:lnSpc>
                <a:spcPct val="101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Agent: "I have no record of a flagged transaction, please clarify."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661475" y="1232495"/>
            <a:ext cx="12700" cy="389136"/>
          </a:xfrm>
          <a:prstGeom prst="roundRect">
            <a:avLst>
              <a:gd name="adj" fmla="val 49999"/>
            </a:avLst>
          </a:prstGeom>
          <a:solidFill>
            <a:srgbClr val="1B1B27"/>
          </a:solidFill>
          <a:ln/>
        </p:spPr>
      </p:sp>
      <p:sp>
        <p:nvSpPr>
          <p:cNvPr id="8" name="Text 6"/>
          <p:cNvSpPr/>
          <p:nvPr/>
        </p:nvSpPr>
        <p:spPr>
          <a:xfrm>
            <a:off x="661475" y="1671042"/>
            <a:ext cx="5330394" cy="206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Without session state, every message is a fresh conversation. The agent forgets what the user said two turns ago — let alone last week. For banking use cases, this is a critical usability failure.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661475" y="1921768"/>
            <a:ext cx="5330394" cy="133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Architecture Change: Session Store Added</a:t>
            </a:r>
            <a:endParaRPr lang="en-US" sz="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04330"/>
            <a:ext cx="5330394" cy="423148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840695" y="3872526"/>
            <a:ext cx="957916" cy="657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Session Store &amp; Agents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783035" y="2552925"/>
            <a:ext cx="1425070" cy="219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Coordinator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3783035" y="2834271"/>
            <a:ext cx="1425070" cy="265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9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Routes tasks and syncs agents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407715" y="2552925"/>
            <a:ext cx="1425070" cy="219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LDAP/IdP init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407715" y="2834271"/>
            <a:ext cx="1425070" cy="265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9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Feeds identity into store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407715" y="5399729"/>
            <a:ext cx="1425070" cy="219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Specialist C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407715" y="5681075"/>
            <a:ext cx="1425070" cy="132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79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 &amp; context agent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783035" y="5333287"/>
            <a:ext cx="1425070" cy="219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Specialist B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3783035" y="5614633"/>
            <a:ext cx="1425070" cy="265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9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Transaction retrieval agent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297039" y="3990078"/>
            <a:ext cx="1456222" cy="219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Specialist A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297039" y="4271424"/>
            <a:ext cx="1456222" cy="132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79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Fraud analysis agent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85924" y="3931424"/>
            <a:ext cx="1456222" cy="219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Session Store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885924" y="4212770"/>
            <a:ext cx="1456222" cy="265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9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History, shared state, auth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206176" y="1049933"/>
            <a:ext cx="5330394" cy="133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Session Store Contents</a:t>
            </a:r>
            <a:endParaRPr lang="en-US" sz="8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06176" y="1232495"/>
            <a:ext cx="5330394" cy="579735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354901" y="1330424"/>
            <a:ext cx="5083742" cy="133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Conversation history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6354901" y="1507530"/>
            <a:ext cx="5083742" cy="206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Per-user, per-session message history. The agent can reference what was said at any prior turn — including flagged items, acknowledged queries, and in-progress requests.</a:t>
            </a:r>
            <a:endParaRPr lang="en-US" sz="65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06176" y="1856184"/>
            <a:ext cx="5330394" cy="579735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354901" y="1954113"/>
            <a:ext cx="5083742" cy="133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Inter-agent shared state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6354901" y="2131219"/>
            <a:ext cx="5083742" cy="206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Accounts Agent result available to Transaction Agent in the same session. No redundant API calls, no context loss between specialists.</a:t>
            </a:r>
            <a:endParaRPr lang="en-US" sz="65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06176" y="2479873"/>
            <a:ext cx="5330394" cy="476349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354901" y="2577802"/>
            <a:ext cx="5083742" cy="133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Authentication context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6354901" y="2754908"/>
            <a:ext cx="5083742" cy="103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re-authentication per turn. Identity is established at session initialisation and persists for the duration of the conversation.</a:t>
            </a:r>
            <a:endParaRPr lang="en-US" sz="650" dirty="0"/>
          </a:p>
        </p:txBody>
      </p:sp>
      <p:sp>
        <p:nvSpPr>
          <p:cNvPr id="34" name="Text 28"/>
          <p:cNvSpPr/>
          <p:nvPr/>
        </p:nvSpPr>
        <p:spPr>
          <a:xfrm>
            <a:off x="6206176" y="3005634"/>
            <a:ext cx="5330394" cy="206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6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Design principle:</a:t>
            </a:r>
            <a:pPr algn="l" indent="0" marL="0">
              <a:lnSpc>
                <a:spcPct val="101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State is controlled and purposeful — not everything is stored. Only what is needed for continuity is persisted, minimising data surface area for compliance.</a:t>
            </a:r>
            <a:endParaRPr lang="en-US" sz="650" dirty="0"/>
          </a:p>
        </p:txBody>
      </p:sp>
      <p:sp>
        <p:nvSpPr>
          <p:cNvPr id="35" name="Shape 29"/>
          <p:cNvSpPr/>
          <p:nvPr/>
        </p:nvSpPr>
        <p:spPr>
          <a:xfrm>
            <a:off x="6206176" y="3261816"/>
            <a:ext cx="5330394" cy="224830"/>
          </a:xfrm>
          <a:prstGeom prst="roundRect">
            <a:avLst>
              <a:gd name="adj" fmla="val 15931"/>
            </a:avLst>
          </a:prstGeom>
          <a:solidFill>
            <a:srgbClr val="E1E1EA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1403" y="3328591"/>
            <a:ext cx="106558" cy="85229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483188" y="3322538"/>
            <a:ext cx="5577740" cy="103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65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Speaker note: The before/after contrast is the most effective teaching moment. Let the Sanjay failure land before showing the fix.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98177"/>
            <a:ext cx="10868745" cy="363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Step 9 — PII Protection: Sensitive Data Is Not Safe Context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661475" y="1025029"/>
            <a:ext cx="714655" cy="176609"/>
          </a:xfrm>
          <a:prstGeom prst="roundRect">
            <a:avLst>
              <a:gd name="adj" fmla="val 22124"/>
            </a:avLst>
          </a:prstGeom>
          <a:solidFill>
            <a:srgbClr val="E1E1EA"/>
          </a:solidFill>
          <a:ln/>
        </p:spPr>
      </p:sp>
      <p:sp>
        <p:nvSpPr>
          <p:cNvPr id="4" name="Text 2"/>
          <p:cNvSpPr/>
          <p:nvPr/>
        </p:nvSpPr>
        <p:spPr>
          <a:xfrm>
            <a:off x="731224" y="1059855"/>
            <a:ext cx="1184741" cy="106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STEP 8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434270" y="1025029"/>
            <a:ext cx="608989" cy="176609"/>
          </a:xfrm>
          <a:prstGeom prst="roundRect">
            <a:avLst>
              <a:gd name="adj" fmla="val 22124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04019" y="1059855"/>
            <a:ext cx="1079076" cy="106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DEMO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61475" y="1375370"/>
            <a:ext cx="5515631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Risk Scenario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35897" y="1722537"/>
            <a:ext cx="5950793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"To verify your identity, please provide your credit card number and OTP."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1475" y="1649016"/>
            <a:ext cx="12700" cy="305395"/>
          </a:xfrm>
          <a:prstGeom prst="roundRect">
            <a:avLst>
              <a:gd name="adj" fmla="val 49999"/>
            </a:avLst>
          </a:prstGeom>
          <a:solidFill>
            <a:srgbClr val="1B1B27"/>
          </a:solidFill>
          <a:ln/>
        </p:spPr>
      </p:sp>
      <p:sp>
        <p:nvSpPr>
          <p:cNvPr id="10" name="Text 8"/>
          <p:cNvSpPr/>
          <p:nvPr/>
        </p:nvSpPr>
        <p:spPr>
          <a:xfrm>
            <a:off x="661475" y="2046387"/>
            <a:ext cx="5515631" cy="475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the agent passes this social-engineering prompt to the model unredacted, the PII is now in the LLM context window — and potentially in session history, observability traces, and cost logs. All of which are systems with broader access than the banking API.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61475" y="2603202"/>
            <a:ext cx="5515631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Architecture Change: PII Redaction Layer</a:t>
            </a:r>
            <a:endParaRPr lang="en-US" sz="11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876848"/>
            <a:ext cx="5515631" cy="2382441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977685" y="4547045"/>
            <a:ext cx="818950" cy="149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PII Redaction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977685" y="4738632"/>
            <a:ext cx="818950" cy="304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9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Shielded layer redacts sensitive data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080539" y="4499479"/>
            <a:ext cx="818950" cy="29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Blocked Raw PII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080539" y="4840227"/>
            <a:ext cx="818950" cy="203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9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Raw sensitive data blocked (red X)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928869" y="3091824"/>
            <a:ext cx="818950" cy="149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 Input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28869" y="3283412"/>
            <a:ext cx="818950" cy="203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9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Card number and OTP provided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098116" y="3091824"/>
            <a:ext cx="818950" cy="149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Logs &amp; History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098116" y="3283412"/>
            <a:ext cx="818950" cy="304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9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Session history and observability get redacted text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3042163" y="3091824"/>
            <a:ext cx="818950" cy="149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LLM Context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042163" y="3283412"/>
            <a:ext cx="818950" cy="304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9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Receives only redacted/tokenized text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6467016" y="1375370"/>
            <a:ext cx="5069455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the PII Layer Does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467016" y="1649016"/>
            <a:ext cx="232563" cy="145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467016" y="1833959"/>
            <a:ext cx="5069455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6" name="Text 23"/>
          <p:cNvSpPr/>
          <p:nvPr/>
        </p:nvSpPr>
        <p:spPr>
          <a:xfrm>
            <a:off x="6467016" y="1917502"/>
            <a:ext cx="5069455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Detect sensitive patterns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467016" y="2180927"/>
            <a:ext cx="5069455" cy="316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Card numbers, account numbers, OTPs, Aadhaar/national IDs — identified via regex and pattern matching before the model sees any input.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467016" y="2666603"/>
            <a:ext cx="232563" cy="145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467016" y="2851547"/>
            <a:ext cx="5069455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0" name="Text 27"/>
          <p:cNvSpPr/>
          <p:nvPr/>
        </p:nvSpPr>
        <p:spPr>
          <a:xfrm>
            <a:off x="6467016" y="2935089"/>
            <a:ext cx="5069455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Redact or tokenise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467016" y="3198515"/>
            <a:ext cx="5069455" cy="323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Sensitive values are replaced with tokens (e.g. </a:t>
            </a:r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[CARD_XXXX]</a:t>
            </a:r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before passing to the LLM. The original value never enters model context.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467016" y="3690541"/>
            <a:ext cx="232563" cy="145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467016" y="3875484"/>
            <a:ext cx="5069455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4" name="Text 31"/>
          <p:cNvSpPr/>
          <p:nvPr/>
        </p:nvSpPr>
        <p:spPr>
          <a:xfrm>
            <a:off x="6467016" y="3959027"/>
            <a:ext cx="5069455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Sanitise downstream systems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467016" y="4222452"/>
            <a:ext cx="5069455" cy="316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Session history, observability traces, and cost logs all receive only the redacted text. PII cannot leak via any observability path.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6467016" y="4718348"/>
            <a:ext cx="2493801" cy="426938"/>
          </a:xfrm>
          <a:prstGeom prst="roundRect">
            <a:avLst>
              <a:gd name="adj" fmla="val 1144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589647" y="4840982"/>
            <a:ext cx="2248538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RBI Data Localisation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9042571" y="4718348"/>
            <a:ext cx="2493900" cy="426938"/>
          </a:xfrm>
          <a:prstGeom prst="roundRect">
            <a:avLst>
              <a:gd name="adj" fmla="val 1144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165202" y="4840982"/>
            <a:ext cx="2248637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DPDP Act (India)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6467016" y="5227042"/>
            <a:ext cx="5069455" cy="426938"/>
          </a:xfrm>
          <a:prstGeom prst="roundRect">
            <a:avLst>
              <a:gd name="adj" fmla="val 1144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589647" y="5349677"/>
            <a:ext cx="4824193" cy="181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PCI-DSS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467016" y="5745956"/>
            <a:ext cx="5069455" cy="521891"/>
          </a:xfrm>
          <a:prstGeom prst="roundRect">
            <a:avLst>
              <a:gd name="adj" fmla="val 9359"/>
            </a:avLst>
          </a:prstGeom>
          <a:solidFill>
            <a:srgbClr val="E1E1EA"/>
          </a:solidFill>
          <a:ln/>
        </p:spPr>
      </p:sp>
      <p:pic>
        <p:nvPicPr>
          <p:cNvPr id="4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297" y="5869285"/>
            <a:ext cx="145352" cy="116284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6844930" y="5848548"/>
            <a:ext cx="4575259" cy="316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90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Speaker note: The phishing scenario is deliberately alarming. Use it to make the risk visceral before showing the architectural fix.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94903"/>
            <a:ext cx="10868745" cy="371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Step 10 — Evaluation: Is the Agent Doing the Right Thing?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661475" y="1037134"/>
            <a:ext cx="730529" cy="180578"/>
          </a:xfrm>
          <a:prstGeom prst="roundRect">
            <a:avLst>
              <a:gd name="adj" fmla="val 22119"/>
            </a:avLst>
          </a:prstGeom>
          <a:solidFill>
            <a:srgbClr val="E1E1EA"/>
          </a:solidFill>
          <a:ln/>
        </p:spPr>
      </p:sp>
      <p:sp>
        <p:nvSpPr>
          <p:cNvPr id="4" name="Text 2"/>
          <p:cNvSpPr/>
          <p:nvPr/>
        </p:nvSpPr>
        <p:spPr>
          <a:xfrm>
            <a:off x="732712" y="1072753"/>
            <a:ext cx="1197640" cy="10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STEP 9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451435" y="1037134"/>
            <a:ext cx="622483" cy="180578"/>
          </a:xfrm>
          <a:prstGeom prst="roundRect">
            <a:avLst>
              <a:gd name="adj" fmla="val 22119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22672" y="1072753"/>
            <a:ext cx="1089593" cy="10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DEMO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61475" y="1399183"/>
            <a:ext cx="528941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Evaluation Suite — Four Baseline Prompts</a:t>
            </a:r>
            <a:endParaRPr lang="en-US" sz="11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680964"/>
            <a:ext cx="5289418" cy="104159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34847" y="1770063"/>
            <a:ext cx="142574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3036" y="2156420"/>
            <a:ext cx="502629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"What is my balance?"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93036" y="2427585"/>
            <a:ext cx="5026296" cy="163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Expected: → Accounts Agent → Balance Enquiry tool. Any other routing is a failure.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807990"/>
            <a:ext cx="5289418" cy="104159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34847" y="2897088"/>
            <a:ext cx="142574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93036" y="3283446"/>
            <a:ext cx="502629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"Show me my last 5 transactions"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793036" y="3554611"/>
            <a:ext cx="5026296" cy="163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Expected: → Transaction Agent → Transaction Details tool. Tests tool disambiguation.</a:t>
            </a:r>
            <a:endParaRPr lang="en-US" sz="9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935016"/>
            <a:ext cx="5289418" cy="12050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234847" y="4024114"/>
            <a:ext cx="142574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793036" y="4410472"/>
            <a:ext cx="502629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"Balance and last 5 transactions"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793036" y="4681637"/>
            <a:ext cx="5026296" cy="32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Expected: → Coordinator → both Accounts Agent AND Transaction Agent. Tests multi-domain routing.</a:t>
            </a:r>
            <a:endParaRPr lang="en-US" sz="9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5225455"/>
            <a:ext cx="5289418" cy="104159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234847" y="5314553"/>
            <a:ext cx="142574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793036" y="5700911"/>
            <a:ext cx="502629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"Update my address"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793036" y="5972076"/>
            <a:ext cx="5026296" cy="163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Expected: → Service Agent → Change of Address tool. Tests service domain isolation.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6247152" y="1399183"/>
            <a:ext cx="528941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to Evaluate — Four Dimensions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247152" y="1680964"/>
            <a:ext cx="2601947" cy="1011833"/>
          </a:xfrm>
          <a:prstGeom prst="roundRect">
            <a:avLst>
              <a:gd name="adj" fmla="val 493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372363" y="1806178"/>
            <a:ext cx="235152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Routing accuracy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6372363" y="2077343"/>
            <a:ext cx="2351525" cy="49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Does the coordinator send balance queries to the Accounts Agent every time — not occasionally?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8934524" y="1680964"/>
            <a:ext cx="2602046" cy="1011833"/>
          </a:xfrm>
          <a:prstGeom prst="roundRect">
            <a:avLst>
              <a:gd name="adj" fmla="val 493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9059735" y="1806178"/>
            <a:ext cx="235162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Tool selection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9059735" y="2077343"/>
            <a:ext cx="2351624" cy="49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"Last 5 transactions" vs "monthly statement" — does the Transaction Agent pick the right tool?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6247152" y="2778224"/>
            <a:ext cx="2601947" cy="1011833"/>
          </a:xfrm>
          <a:prstGeom prst="roundRect">
            <a:avLst>
              <a:gd name="adj" fmla="val 493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6372363" y="2903438"/>
            <a:ext cx="235152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Edge cases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6372363" y="3174603"/>
            <a:ext cx="2351525" cy="49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Ambiguous queries, multi-domain requests, out-of-scope requests — the system must handle all gracefully.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8934524" y="2778224"/>
            <a:ext cx="2602046" cy="1011833"/>
          </a:xfrm>
          <a:prstGeom prst="roundRect">
            <a:avLst>
              <a:gd name="adj" fmla="val 493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9059735" y="2903438"/>
            <a:ext cx="235162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Regression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9059735" y="3174603"/>
            <a:ext cx="2351624" cy="49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Does adding a new tool break existing query handling? Every build step must pass the full baseline suite.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6247152" y="3886101"/>
            <a:ext cx="5289418" cy="539948"/>
          </a:xfrm>
          <a:prstGeom prst="roundRect">
            <a:avLst>
              <a:gd name="adj" fmla="val 9247"/>
            </a:avLst>
          </a:prstGeom>
          <a:solidFill>
            <a:srgbClr val="E1E1EA"/>
          </a:solidFill>
          <a:ln/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66013" y="4011414"/>
            <a:ext cx="148527" cy="118864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633401" y="3992662"/>
            <a:ext cx="4784308" cy="32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Evaluation is the quality gate before observability. If a test fails, the next slide shows how to find out why.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6247152" y="4522093"/>
            <a:ext cx="5289418" cy="539948"/>
          </a:xfrm>
          <a:prstGeom prst="roundRect">
            <a:avLst>
              <a:gd name="adj" fmla="val 9247"/>
            </a:avLst>
          </a:prstGeom>
          <a:solidFill>
            <a:srgbClr val="E1E1EA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66013" y="4647406"/>
            <a:ext cx="148527" cy="118864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633401" y="4628654"/>
            <a:ext cx="4784308" cy="32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Speaker note: Demo — run all four prompts; show pass/fail results in the evaluation dashboard.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Step 11 — Observability: Trace Every Step, Find Every Failure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61475" y="795933"/>
            <a:ext cx="708900" cy="125710"/>
          </a:xfrm>
          <a:prstGeom prst="roundRect">
            <a:avLst>
              <a:gd name="adj" fmla="val 22103"/>
            </a:avLst>
          </a:prstGeom>
          <a:solidFill>
            <a:srgbClr val="E1E1EA"/>
          </a:solidFill>
          <a:ln/>
        </p:spPr>
      </p:sp>
      <p:sp>
        <p:nvSpPr>
          <p:cNvPr id="4" name="Text 2"/>
          <p:cNvSpPr/>
          <p:nvPr/>
        </p:nvSpPr>
        <p:spPr>
          <a:xfrm>
            <a:off x="711083" y="820738"/>
            <a:ext cx="1219269" cy="76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STEP 9 CONT.</a:t>
            </a:r>
            <a:endParaRPr lang="en-US" sz="500" dirty="0"/>
          </a:p>
        </p:txBody>
      </p:sp>
      <p:sp>
        <p:nvSpPr>
          <p:cNvPr id="5" name="Shape 3"/>
          <p:cNvSpPr/>
          <p:nvPr/>
        </p:nvSpPr>
        <p:spPr>
          <a:xfrm>
            <a:off x="1411649" y="795933"/>
            <a:ext cx="432881" cy="12571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1257" y="820738"/>
            <a:ext cx="943249" cy="76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DEMO</a:t>
            </a:r>
            <a:endParaRPr lang="en-US" sz="500" dirty="0"/>
          </a:p>
        </p:txBody>
      </p:sp>
      <p:sp>
        <p:nvSpPr>
          <p:cNvPr id="7" name="Text 5"/>
          <p:cNvSpPr/>
          <p:nvPr/>
        </p:nvSpPr>
        <p:spPr>
          <a:xfrm>
            <a:off x="661475" y="1009352"/>
            <a:ext cx="588699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Real-World Failure Scenario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5495" y="1222177"/>
            <a:ext cx="6372562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customer reports their balance shows ₹1,16,200 in the agent — but ₹52,340 in the mobile app. Which system is wrong? Where did the divergence happen?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661475" y="1184970"/>
            <a:ext cx="12700" cy="173534"/>
          </a:xfrm>
          <a:prstGeom prst="roundRect">
            <a:avLst>
              <a:gd name="adj" fmla="val 49999"/>
            </a:avLst>
          </a:prstGeom>
          <a:solidFill>
            <a:srgbClr val="1B1B27"/>
          </a:solidFill>
          <a:ln/>
        </p:spPr>
      </p:sp>
      <p:sp>
        <p:nvSpPr>
          <p:cNvPr id="10" name="Text 8"/>
          <p:cNvSpPr/>
          <p:nvPr/>
        </p:nvSpPr>
        <p:spPr>
          <a:xfrm>
            <a:off x="661475" y="1404938"/>
            <a:ext cx="588699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Full Trace Path with Per-Hop Latency</a:t>
            </a:r>
            <a:endParaRPr lang="en-US" sz="8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055" y="1580555"/>
            <a:ext cx="4919738" cy="491976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22902" y="2541567"/>
            <a:ext cx="1585206" cy="248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1622902" y="2860992"/>
            <a:ext cx="1585206" cy="298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Initiates request to check balance.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010243" y="2541567"/>
            <a:ext cx="1585206" cy="248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Coordinator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4010243" y="2860992"/>
            <a:ext cx="1585206" cy="298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Routes call onward (5ms).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623040" y="4928829"/>
            <a:ext cx="1585206" cy="248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Accounts Agent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1623040" y="5248255"/>
            <a:ext cx="1585206" cy="298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Requests account data (12ms).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010243" y="4928829"/>
            <a:ext cx="1585206" cy="248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Accounts MCP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4010243" y="5248255"/>
            <a:ext cx="1585206" cy="298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Aggregates sources (8ms).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756429" y="1009352"/>
            <a:ext cx="4780041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Observability Provides</a:t>
            </a:r>
            <a:endParaRPr lang="en-US" sz="8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87385" y="1188988"/>
            <a:ext cx="124020" cy="124023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025107" y="1184970"/>
            <a:ext cx="4511364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Identify the exact failure step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stale cache in the Balance Tool returned ₹1,16,200; live API would have returned ₹52,340</a:t>
            </a:r>
            <a:endParaRPr lang="en-US" sz="65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87385" y="1523752"/>
            <a:ext cx="124020" cy="124023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025107" y="1519734"/>
            <a:ext cx="4511364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Latency per hop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identify slow tools or slow model calls before they become SLA breaches</a:t>
            </a:r>
            <a:endParaRPr lang="en-US" sz="65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87385" y="1858516"/>
            <a:ext cx="124020" cy="12402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025107" y="1854498"/>
            <a:ext cx="4511364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Agent decision log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why did the coordinator choose this specialist? What was the intent classification confidence?</a:t>
            </a:r>
            <a:endParaRPr lang="en-US" sz="6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87385" y="2193280"/>
            <a:ext cx="124020" cy="12402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025107" y="2189262"/>
            <a:ext cx="4511364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Explainability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make agent behaviour auditable for operators and compliance teams</a:t>
            </a:r>
            <a:endParaRPr lang="en-US" sz="650" dirty="0"/>
          </a:p>
        </p:txBody>
      </p:sp>
      <p:sp>
        <p:nvSpPr>
          <p:cNvPr id="29" name="Text 22"/>
          <p:cNvSpPr/>
          <p:nvPr/>
        </p:nvSpPr>
        <p:spPr>
          <a:xfrm>
            <a:off x="6756429" y="2487811"/>
            <a:ext cx="4780041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Tooling Options</a:t>
            </a:r>
            <a:endParaRPr lang="en-US" sz="800" dirty="0"/>
          </a:p>
        </p:txBody>
      </p:sp>
      <p:sp>
        <p:nvSpPr>
          <p:cNvPr id="30" name="Shape 23"/>
          <p:cNvSpPr/>
          <p:nvPr/>
        </p:nvSpPr>
        <p:spPr>
          <a:xfrm>
            <a:off x="6756429" y="2663428"/>
            <a:ext cx="2369384" cy="307181"/>
          </a:xfrm>
          <a:prstGeom prst="roundRect">
            <a:avLst>
              <a:gd name="adj" fmla="val 1130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6845426" y="2752427"/>
            <a:ext cx="2191390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LangSmith</a:t>
            </a:r>
            <a:endParaRPr lang="en-US" sz="800" dirty="0"/>
          </a:p>
        </p:txBody>
      </p:sp>
      <p:sp>
        <p:nvSpPr>
          <p:cNvPr id="32" name="Shape 25"/>
          <p:cNvSpPr/>
          <p:nvPr/>
        </p:nvSpPr>
        <p:spPr>
          <a:xfrm>
            <a:off x="9167087" y="2663428"/>
            <a:ext cx="2369384" cy="307181"/>
          </a:xfrm>
          <a:prstGeom prst="roundRect">
            <a:avLst>
              <a:gd name="adj" fmla="val 1130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9256084" y="2752427"/>
            <a:ext cx="2191390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Langfuse</a:t>
            </a:r>
            <a:endParaRPr lang="en-US" sz="800" dirty="0"/>
          </a:p>
        </p:txBody>
      </p:sp>
      <p:sp>
        <p:nvSpPr>
          <p:cNvPr id="34" name="Shape 27"/>
          <p:cNvSpPr/>
          <p:nvPr/>
        </p:nvSpPr>
        <p:spPr>
          <a:xfrm>
            <a:off x="6756429" y="3011884"/>
            <a:ext cx="2369384" cy="307181"/>
          </a:xfrm>
          <a:prstGeom prst="roundRect">
            <a:avLst>
              <a:gd name="adj" fmla="val 1130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6845426" y="3100884"/>
            <a:ext cx="2191390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OpenTelemetry</a:t>
            </a:r>
            <a:endParaRPr lang="en-US" sz="800" dirty="0"/>
          </a:p>
        </p:txBody>
      </p:sp>
      <p:sp>
        <p:nvSpPr>
          <p:cNvPr id="36" name="Shape 29"/>
          <p:cNvSpPr/>
          <p:nvPr/>
        </p:nvSpPr>
        <p:spPr>
          <a:xfrm>
            <a:off x="9167087" y="3011884"/>
            <a:ext cx="2369384" cy="307181"/>
          </a:xfrm>
          <a:prstGeom prst="roundRect">
            <a:avLst>
              <a:gd name="adj" fmla="val 1130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9256084" y="3100884"/>
            <a:ext cx="2191390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 Structured Logging</a:t>
            </a:r>
            <a:endParaRPr lang="en-US" sz="800" dirty="0"/>
          </a:p>
        </p:txBody>
      </p:sp>
      <p:sp>
        <p:nvSpPr>
          <p:cNvPr id="38" name="Shape 31"/>
          <p:cNvSpPr/>
          <p:nvPr/>
        </p:nvSpPr>
        <p:spPr>
          <a:xfrm>
            <a:off x="6756429" y="3365500"/>
            <a:ext cx="4780041" cy="313928"/>
          </a:xfrm>
          <a:prstGeom prst="roundRect">
            <a:avLst>
              <a:gd name="adj" fmla="val 11064"/>
            </a:avLst>
          </a:prstGeom>
          <a:solidFill>
            <a:srgbClr val="E1E1EA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39077" y="3431282"/>
            <a:ext cx="103284" cy="82649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7025008" y="3423345"/>
            <a:ext cx="4428816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Speaker note: The balance discrepancy is a real-world scenario. It makes observability feel urgent rather than optional. Demo: trace the request path live and identify the failing step.</a:t>
            </a:r>
            <a:endParaRPr lang="en-US" sz="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8998"/>
            <a:ext cx="10868745" cy="39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Step 12 — Cost Tracking: Every Token and Tool Call Has a Price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661475" y="1148556"/>
            <a:ext cx="834806" cy="192286"/>
          </a:xfrm>
          <a:prstGeom prst="roundRect">
            <a:avLst>
              <a:gd name="adj" fmla="val 22127"/>
            </a:avLst>
          </a:prstGeom>
          <a:solidFill>
            <a:srgbClr val="E1E1EA"/>
          </a:solidFill>
          <a:ln/>
        </p:spPr>
      </p:sp>
      <p:sp>
        <p:nvSpPr>
          <p:cNvPr id="4" name="Text 2"/>
          <p:cNvSpPr/>
          <p:nvPr/>
        </p:nvSpPr>
        <p:spPr>
          <a:xfrm>
            <a:off x="737375" y="1186458"/>
            <a:ext cx="1292590" cy="116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STEP 10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61475" y="1546820"/>
            <a:ext cx="5838778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Cost Per Interaction Type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853605"/>
          <a:ext cx="9143771" cy="914400"/>
        </p:xfrm>
        <a:graphic>
          <a:graphicData uri="http://schemas.openxmlformats.org/drawingml/2006/table">
            <a:tbl>
              <a:tblPr/>
              <a:tblGrid>
                <a:gridCol w="1167756"/>
                <a:gridCol w="1167756"/>
                <a:gridCol w="1167756"/>
                <a:gridCol w="1167756"/>
                <a:gridCol w="1167756"/>
              </a:tblGrid>
              <a:tr h="489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Interaction Type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6628" marR="12662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Agent Calls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6628" marR="12662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Tool Calls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6628" marR="12662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Est. Tokens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6628" marR="12662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Relative Cost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6628" marR="12662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3141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Balance enquiry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6628" marR="12662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6628" marR="12662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6628" marR="12662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~800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6628" marR="12662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1×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6628" marR="12662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4929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Last 5 transactions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6628" marR="12662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6628" marR="12662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6628" marR="12662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~1,200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6628" marR="12662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1.5×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6628" marR="12662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4929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Balance + transactions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6628" marR="12662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3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6628" marR="12662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6628" marR="12662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~2,000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6628" marR="12662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2.5×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6628" marR="12662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310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Address change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6628" marR="126628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6628" marR="12662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6628" marR="12662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~900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6628" marR="12662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1.1×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26628" marR="126628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61475" y="4076005"/>
            <a:ext cx="5838778" cy="595313"/>
          </a:xfrm>
          <a:prstGeom prst="roundRect">
            <a:avLst>
              <a:gd name="adj" fmla="val 8934"/>
            </a:avLst>
          </a:prstGeom>
          <a:solidFill>
            <a:srgbClr val="FCF2B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075" y="4220766"/>
            <a:ext cx="158250" cy="12660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72925" y="4194870"/>
            <a:ext cx="5300728" cy="357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Multi-domain requests cost 2.5× more than single-tool queries.</a:t>
            </a:r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Routing efficiency has a direct, measurable cost impact at 4.2 lakh calls/month.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6815562" y="1546820"/>
            <a:ext cx="4721008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to Track Per Interaction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15562" y="1853605"/>
            <a:ext cx="4721008" cy="93087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005661" y="1992908"/>
            <a:ext cx="4391610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LLM token usage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7005661" y="2287588"/>
            <a:ext cx="4391610" cy="357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Input + output tokens per agent call. Coordinator calls tend to be larger (intent classification + synthesis). Specialist calls are smaller (tool-scoped context).</a:t>
            </a:r>
            <a:endParaRPr lang="en-US" sz="9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15562" y="2881412"/>
            <a:ext cx="4721008" cy="93087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005661" y="3020715"/>
            <a:ext cx="4391610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Tool and MCP round-trips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7005661" y="3315395"/>
            <a:ext cx="4391610" cy="357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Number of tool/API calls invoked per request. MCP server round-trips add latency and infrastructure cost.</a:t>
            </a:r>
            <a:endParaRPr lang="en-US" sz="9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15562" y="3909219"/>
            <a:ext cx="4721008" cy="93087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005661" y="4048522"/>
            <a:ext cx="4391610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Evaluation and observability overhead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7005661" y="4343202"/>
            <a:ext cx="4391610" cy="357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Evaluation runs and trace collection also consume tokens. Account for them in the total cost model — they are not free.</a:t>
            </a:r>
            <a:endParaRPr lang="en-US" sz="950" dirty="0"/>
          </a:p>
        </p:txBody>
      </p:sp>
      <p:sp>
        <p:nvSpPr>
          <p:cNvPr id="20" name="Text 13"/>
          <p:cNvSpPr/>
          <p:nvPr/>
        </p:nvSpPr>
        <p:spPr>
          <a:xfrm>
            <a:off x="6815562" y="4949130"/>
            <a:ext cx="4721008" cy="536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 data feeds capacity planning and pricing decisions. At scale, the difference between a 1× and 2.5× interaction type determines whether the system is economically viable.</a:t>
            </a:r>
            <a:endParaRPr lang="en-US" sz="950" dirty="0"/>
          </a:p>
        </p:txBody>
      </p:sp>
      <p:sp>
        <p:nvSpPr>
          <p:cNvPr id="21" name="Shape 14"/>
          <p:cNvSpPr/>
          <p:nvPr/>
        </p:nvSpPr>
        <p:spPr>
          <a:xfrm>
            <a:off x="6815562" y="5594548"/>
            <a:ext cx="4721008" cy="595313"/>
          </a:xfrm>
          <a:prstGeom prst="roundRect">
            <a:avLst>
              <a:gd name="adj" fmla="val 8934"/>
            </a:avLst>
          </a:prstGeom>
          <a:solidFill>
            <a:srgbClr val="E1E1EA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2162" y="5739309"/>
            <a:ext cx="158250" cy="126603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227012" y="5713413"/>
            <a:ext cx="4182958" cy="357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Speaker note: Cost tracking is often skipped in demos. Including it signals production maturity to the audience.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3096"/>
            <a:ext cx="10868745" cy="379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Step 13 — Infrastructure: Logical Correctness Is Not Enough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661475" y="1041003"/>
            <a:ext cx="1096439" cy="184448"/>
          </a:xfrm>
          <a:prstGeom prst="roundRect">
            <a:avLst>
              <a:gd name="adj" fmla="val 22126"/>
            </a:avLst>
          </a:prstGeom>
          <a:solidFill>
            <a:srgbClr val="E1E1EA"/>
          </a:solidFill>
          <a:ln/>
        </p:spPr>
      </p:sp>
      <p:sp>
        <p:nvSpPr>
          <p:cNvPr id="4" name="Text 2"/>
          <p:cNvSpPr/>
          <p:nvPr/>
        </p:nvSpPr>
        <p:spPr>
          <a:xfrm>
            <a:off x="734300" y="1077416"/>
            <a:ext cx="1560374" cy="11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STEP 10 CONT.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1818634" y="1041003"/>
            <a:ext cx="636175" cy="184448"/>
          </a:xfrm>
          <a:prstGeom prst="roundRect">
            <a:avLst>
              <a:gd name="adj" fmla="val 22126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91459" y="1077416"/>
            <a:ext cx="1100110" cy="11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DEMO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61475" y="1414959"/>
            <a:ext cx="5844433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Layered Stack with Health Monitoring</a:t>
            </a:r>
            <a:endParaRPr lang="en-US" sz="11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704975"/>
            <a:ext cx="5844433" cy="328751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08518" y="1414959"/>
            <a:ext cx="4727953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Infrastructure vs Reasoning Failures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808518" y="1704975"/>
            <a:ext cx="4727953" cy="1039912"/>
          </a:xfrm>
          <a:prstGeom prst="roundRect">
            <a:avLst>
              <a:gd name="adj" fmla="val 490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14868" y="1711325"/>
            <a:ext cx="2357577" cy="1027212"/>
          </a:xfrm>
          <a:custGeom>
            <a:avLst/>
            <a:gdLst/>
            <a:ahLst/>
            <a:cxnLst/>
            <a:rect l="l" t="t" r="r" b="b"/>
            <a:pathLst>
              <a:path w="2357577" h="1027212">
                <a:moveTo>
                  <a:pt x="42511" y="0"/>
                </a:moveTo>
                <a:lnTo>
                  <a:pt x="2357577" y="0"/>
                </a:lnTo>
                <a:lnTo>
                  <a:pt x="2357577" y="1027212"/>
                </a:lnTo>
                <a:lnTo>
                  <a:pt x="42511" y="1027212"/>
                </a:lnTo>
                <a:arcTo hR="42512" wR="42511" stAng="5400000" swAng="5400000"/>
                <a:lnTo>
                  <a:pt x="0" y="42512"/>
                </a:lnTo>
                <a:arcTo hR="42512" wR="42511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2" name="Text 9"/>
          <p:cNvSpPr/>
          <p:nvPr/>
        </p:nvSpPr>
        <p:spPr>
          <a:xfrm>
            <a:off x="6936309" y="1832769"/>
            <a:ext cx="2114696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Reasoning failure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936309" y="2111673"/>
            <a:ext cx="2114696" cy="336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agent picks the wrong tool — caught by evaluation.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9172445" y="1711325"/>
            <a:ext cx="2357676" cy="1027212"/>
          </a:xfrm>
          <a:custGeom>
            <a:avLst/>
            <a:gdLst/>
            <a:ahLst/>
            <a:cxnLst/>
            <a:rect l="l" t="t" r="r" b="b"/>
            <a:pathLst>
              <a:path w="2357676" h="1027212">
                <a:moveTo>
                  <a:pt x="0" y="0"/>
                </a:moveTo>
                <a:lnTo>
                  <a:pt x="2315165" y="0"/>
                </a:lnTo>
                <a:arcTo hR="42512" wR="42511" stAng="16200000" swAng="5400000"/>
                <a:lnTo>
                  <a:pt x="2357676" y="984700"/>
                </a:lnTo>
                <a:arcTo hR="42512" wR="42511" stAng="0" swAng="5400000"/>
                <a:lnTo>
                  <a:pt x="0" y="1027212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5" name="Shape 12"/>
          <p:cNvSpPr/>
          <p:nvPr/>
        </p:nvSpPr>
        <p:spPr>
          <a:xfrm>
            <a:off x="9172445" y="1711325"/>
            <a:ext cx="12700" cy="1027212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6" name="Text 13"/>
          <p:cNvSpPr/>
          <p:nvPr/>
        </p:nvSpPr>
        <p:spPr>
          <a:xfrm>
            <a:off x="9293885" y="1832769"/>
            <a:ext cx="2114795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Infrastructure failure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9293885" y="2111673"/>
            <a:ext cx="2114795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right tool is unavailable — caught by health monitoring and circuit breakers.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808518" y="2845197"/>
            <a:ext cx="4727953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Must Run Reliably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808518" y="3201988"/>
            <a:ext cx="60720" cy="60722"/>
          </a:xfrm>
          <a:prstGeom prst="ellipse">
            <a:avLst/>
          </a:prstGeom>
          <a:solidFill>
            <a:srgbClr val="1B1B27"/>
          </a:solidFill>
          <a:ln/>
        </p:spPr>
      </p:sp>
      <p:sp>
        <p:nvSpPr>
          <p:cNvPr id="20" name="Text 17"/>
          <p:cNvSpPr/>
          <p:nvPr/>
        </p:nvSpPr>
        <p:spPr>
          <a:xfrm>
            <a:off x="6958434" y="3135213"/>
            <a:ext cx="4578037" cy="336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Coordinator + specialist agents:</a:t>
            </a:r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Stateless, horizontally scalable — add instances without state migration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808518" y="3717330"/>
            <a:ext cx="60720" cy="60722"/>
          </a:xfrm>
          <a:prstGeom prst="ellipse">
            <a:avLst/>
          </a:prstGeom>
          <a:solidFill>
            <a:srgbClr val="1B1B27"/>
          </a:solidFill>
          <a:ln/>
        </p:spPr>
      </p:sp>
      <p:sp>
        <p:nvSpPr>
          <p:cNvPr id="22" name="Text 19"/>
          <p:cNvSpPr/>
          <p:nvPr/>
        </p:nvSpPr>
        <p:spPr>
          <a:xfrm>
            <a:off x="6958434" y="3650555"/>
            <a:ext cx="4578037" cy="336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MCP servers:</a:t>
            </a:r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Each independently deployable and restartable — failure of one does not take down others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808518" y="4232672"/>
            <a:ext cx="60720" cy="60722"/>
          </a:xfrm>
          <a:prstGeom prst="ellipse">
            <a:avLst/>
          </a:prstGeom>
          <a:solidFill>
            <a:srgbClr val="1B1B27"/>
          </a:solidFill>
          <a:ln/>
        </p:spPr>
      </p:sp>
      <p:sp>
        <p:nvSpPr>
          <p:cNvPr id="24" name="Text 21"/>
          <p:cNvSpPr/>
          <p:nvPr/>
        </p:nvSpPr>
        <p:spPr>
          <a:xfrm>
            <a:off x="6958434" y="4165898"/>
            <a:ext cx="4578037" cy="336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Session Store:</a:t>
            </a:r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Must survive agent restarts — stateful, requires persistence guarantees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808518" y="4748014"/>
            <a:ext cx="60720" cy="60722"/>
          </a:xfrm>
          <a:prstGeom prst="ellipse">
            <a:avLst/>
          </a:prstGeom>
          <a:solidFill>
            <a:srgbClr val="1B1B27"/>
          </a:solidFill>
          <a:ln/>
        </p:spPr>
      </p:sp>
      <p:sp>
        <p:nvSpPr>
          <p:cNvPr id="26" name="Text 23"/>
          <p:cNvSpPr/>
          <p:nvPr/>
        </p:nvSpPr>
        <p:spPr>
          <a:xfrm>
            <a:off x="6958434" y="4681240"/>
            <a:ext cx="4578037" cy="336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Model API:</a:t>
            </a:r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Circuit breaker + fallback required — model unavailability must not produce hallucinated responses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6990679" y="5198765"/>
            <a:ext cx="4545792" cy="336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MCP unavailable → coordinator receives tool error → agent responds "service temporarily unavailable" — not a hallucinated balance figure.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808518" y="5118497"/>
            <a:ext cx="12700" cy="497483"/>
          </a:xfrm>
          <a:prstGeom prst="roundRect">
            <a:avLst>
              <a:gd name="adj" fmla="val 49999"/>
            </a:avLst>
          </a:prstGeom>
          <a:solidFill>
            <a:srgbClr val="1B1B27"/>
          </a:solidFill>
          <a:ln/>
        </p:spPr>
      </p:sp>
      <p:sp>
        <p:nvSpPr>
          <p:cNvPr id="29" name="Shape 26"/>
          <p:cNvSpPr/>
          <p:nvPr/>
        </p:nvSpPr>
        <p:spPr>
          <a:xfrm>
            <a:off x="6808518" y="5716290"/>
            <a:ext cx="4727953" cy="558205"/>
          </a:xfrm>
          <a:prstGeom prst="roundRect">
            <a:avLst>
              <a:gd name="adj" fmla="val 9139"/>
            </a:avLst>
          </a:prstGeom>
          <a:solidFill>
            <a:srgbClr val="E1E1EA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9959" y="5850235"/>
            <a:ext cx="151801" cy="121444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203200" y="5826919"/>
            <a:ext cx="4211830" cy="336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Speaker note: Infrastructure is the bridge from "it works in the demo" to "it works at 4.2 lakh calls/month". Don't skip it.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6858"/>
            <a:ext cx="10868745" cy="347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Step 14 — Layered Security: Every Layer Has a Control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661475" y="1073448"/>
            <a:ext cx="836294" cy="168870"/>
          </a:xfrm>
          <a:prstGeom prst="roundRect">
            <a:avLst>
              <a:gd name="adj" fmla="val 22110"/>
            </a:avLst>
          </a:prstGeom>
          <a:solidFill>
            <a:srgbClr val="E1E1EA"/>
          </a:solidFill>
          <a:ln/>
        </p:spPr>
      </p:sp>
      <p:sp>
        <p:nvSpPr>
          <p:cNvPr id="4" name="Text 2"/>
          <p:cNvSpPr/>
          <p:nvPr/>
        </p:nvSpPr>
        <p:spPr>
          <a:xfrm>
            <a:off x="728148" y="1106785"/>
            <a:ext cx="1312532" cy="10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 RECAP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661475" y="1400870"/>
            <a:ext cx="5855744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Defence-in-Depth Security Stack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58441"/>
            <a:ext cx="5855744" cy="32938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94628" y="1400870"/>
            <a:ext cx="4741843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Controls Mapped to Source Problems</a:t>
            </a:r>
            <a:endParaRPr lang="en-US" sz="1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94628" y="1658441"/>
            <a:ext cx="4741843" cy="79315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69248" y="1782266"/>
            <a:ext cx="4443401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 + API layer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6969248" y="2030512"/>
            <a:ext cx="4443401" cy="297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Identity verification and session tokens introduced in </a:t>
            </a:r>
            <a:pPr algn="l" indent="0" marL="0">
              <a:lnSpc>
                <a:spcPct val="111000"/>
              </a:lnSpc>
              <a:buNone/>
            </a:pPr>
            <a:r>
              <a:rPr lang="en-US" sz="8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Step 7 (Authentication)</a:t>
            </a:r>
            <a:pPr algn="l" indent="0" marL="0">
              <a:lnSpc>
                <a:spcPct val="111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Rate limiting and TLS are prerequisites from day one.</a:t>
            </a:r>
            <a:endParaRPr lang="en-US" sz="8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94628" y="2526209"/>
            <a:ext cx="4741843" cy="79315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969248" y="2650034"/>
            <a:ext cx="4443401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Agent layer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969248" y="2898279"/>
            <a:ext cx="4443401" cy="297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Prompt injection defence and role-based routing introduced in </a:t>
            </a:r>
            <a:pPr algn="l" indent="0" marL="0">
              <a:lnSpc>
                <a:spcPct val="111000"/>
              </a:lnSpc>
              <a:buNone/>
            </a:pPr>
            <a:r>
              <a:rPr lang="en-US" sz="8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Step 5 (Coordinator)</a:t>
            </a:r>
            <a:pPr algn="l" indent="0" marL="0">
              <a:lnSpc>
                <a:spcPct val="111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Output filtering added alongside evaluation in </a:t>
            </a:r>
            <a:pPr algn="l" indent="0" marL="0">
              <a:lnSpc>
                <a:spcPct val="111000"/>
              </a:lnSpc>
              <a:buNone/>
            </a:pPr>
            <a:r>
              <a:rPr lang="en-US" sz="8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Step 10</a:t>
            </a:r>
            <a:pPr algn="l" indent="0" marL="0">
              <a:lnSpc>
                <a:spcPct val="111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8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94628" y="3393976"/>
            <a:ext cx="4741843" cy="79315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969248" y="3517801"/>
            <a:ext cx="4443401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MCP / Tool layer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6969248" y="3766046"/>
            <a:ext cx="4443401" cy="297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Least-privilege tool access introduced in </a:t>
            </a:r>
            <a:pPr algn="l" indent="0" marL="0">
              <a:lnSpc>
                <a:spcPct val="111000"/>
              </a:lnSpc>
              <a:buNone/>
            </a:pPr>
            <a:r>
              <a:rPr lang="en-US" sz="8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Step 4 (Specialist Agents)</a:t>
            </a:r>
            <a:pPr algn="l" indent="0" marL="0">
              <a:lnSpc>
                <a:spcPct val="111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Audit log formalised with observability in </a:t>
            </a:r>
            <a:pPr algn="l" indent="0" marL="0">
              <a:lnSpc>
                <a:spcPct val="111000"/>
              </a:lnSpc>
              <a:buNone/>
            </a:pPr>
            <a:r>
              <a:rPr lang="en-US" sz="8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Step 11</a:t>
            </a:r>
            <a:pPr algn="l" indent="0" marL="0">
              <a:lnSpc>
                <a:spcPct val="111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8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94628" y="4261743"/>
            <a:ext cx="4741843" cy="79315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969248" y="4385568"/>
            <a:ext cx="4443401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 + Data layer</a:t>
            </a:r>
            <a:endParaRPr lang="en-US" sz="1050" dirty="0"/>
          </a:p>
        </p:txBody>
      </p:sp>
      <p:sp>
        <p:nvSpPr>
          <p:cNvPr id="19" name="Text 12"/>
          <p:cNvSpPr/>
          <p:nvPr/>
        </p:nvSpPr>
        <p:spPr>
          <a:xfrm>
            <a:off x="6969248" y="4633813"/>
            <a:ext cx="4443401" cy="297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PII redaction introduced in </a:t>
            </a:r>
            <a:pPr algn="l" indent="0" marL="0">
              <a:lnSpc>
                <a:spcPct val="111000"/>
              </a:lnSpc>
              <a:buNone/>
            </a:pPr>
            <a:r>
              <a:rPr lang="en-US" sz="8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Step 9</a:t>
            </a:r>
            <a:pPr algn="l" indent="0" marL="0">
              <a:lnSpc>
                <a:spcPct val="111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Encryption at rest and log sanitisation are compliance anchors: RBI · DPDP Act · PCI-DSS · ISO 27001.</a:t>
            </a:r>
            <a:endParaRPr lang="en-US" sz="850" dirty="0"/>
          </a:p>
        </p:txBody>
      </p:sp>
      <p:sp>
        <p:nvSpPr>
          <p:cNvPr id="20" name="Shape 13"/>
          <p:cNvSpPr/>
          <p:nvPr/>
        </p:nvSpPr>
        <p:spPr>
          <a:xfrm>
            <a:off x="6794628" y="5138837"/>
            <a:ext cx="4741843" cy="487164"/>
          </a:xfrm>
          <a:prstGeom prst="roundRect">
            <a:avLst>
              <a:gd name="adj" fmla="val 9580"/>
            </a:avLst>
          </a:prstGeom>
          <a:solidFill>
            <a:srgbClr val="E1E1EA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05750" y="5251946"/>
            <a:ext cx="138903" cy="111125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155775" y="5233789"/>
            <a:ext cx="4269574" cy="297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control shown here was introduced to solve a specific, demonstrated problem. Nothing is new on this slide — it is a recap of the full teaching arc.</a:t>
            </a:r>
            <a:endParaRPr lang="en-US" sz="850" dirty="0"/>
          </a:p>
        </p:txBody>
      </p:sp>
      <p:sp>
        <p:nvSpPr>
          <p:cNvPr id="23" name="Shape 15"/>
          <p:cNvSpPr/>
          <p:nvPr/>
        </p:nvSpPr>
        <p:spPr>
          <a:xfrm>
            <a:off x="6794628" y="5709940"/>
            <a:ext cx="4741843" cy="487164"/>
          </a:xfrm>
          <a:prstGeom prst="roundRect">
            <a:avLst>
              <a:gd name="adj" fmla="val 9580"/>
            </a:avLst>
          </a:prstGeom>
          <a:solidFill>
            <a:srgbClr val="E1E1EA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05750" y="5823049"/>
            <a:ext cx="138903" cy="111125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155775" y="5804892"/>
            <a:ext cx="4269574" cy="297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85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Speaker note: Walk the stack top-to-bottom. Ask the audience to match each control to the slide where the problem was introduced — it reinforces the entire narrative arc.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Final Architecture: Every Layer Earns Its Place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61475" y="795933"/>
            <a:ext cx="706618" cy="125710"/>
          </a:xfrm>
          <a:prstGeom prst="roundRect">
            <a:avLst>
              <a:gd name="adj" fmla="val 22103"/>
            </a:avLst>
          </a:prstGeom>
          <a:solidFill>
            <a:srgbClr val="E1E1EA"/>
          </a:solidFill>
          <a:ln/>
        </p:spPr>
      </p:sp>
      <p:sp>
        <p:nvSpPr>
          <p:cNvPr id="4" name="Text 2"/>
          <p:cNvSpPr/>
          <p:nvPr/>
        </p:nvSpPr>
        <p:spPr>
          <a:xfrm>
            <a:off x="711083" y="820738"/>
            <a:ext cx="1216987" cy="76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COMPLETE SYSTEM</a:t>
            </a:r>
            <a:endParaRPr lang="en-US" sz="500" dirty="0"/>
          </a:p>
        </p:txBody>
      </p:sp>
      <p:sp>
        <p:nvSpPr>
          <p:cNvPr id="5" name="Shape 3"/>
          <p:cNvSpPr/>
          <p:nvPr/>
        </p:nvSpPr>
        <p:spPr>
          <a:xfrm>
            <a:off x="1409367" y="795933"/>
            <a:ext cx="676357" cy="12571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58975" y="820738"/>
            <a:ext cx="1186726" cy="76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END-TO-END DEMO</a:t>
            </a:r>
            <a:endParaRPr lang="en-US" sz="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68077"/>
            <a:ext cx="10868745" cy="510420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58788" y="4819258"/>
            <a:ext cx="2384795" cy="298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 Entry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918234" y="5202160"/>
            <a:ext cx="2925348" cy="17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External user initiates request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422222" y="3987209"/>
            <a:ext cx="2384795" cy="298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Auth IdP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8422222" y="4370110"/>
            <a:ext cx="2851155" cy="17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Authenticate and issue tokens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458622" y="3229355"/>
            <a:ext cx="2384795" cy="298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API Gateway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918069" y="3612256"/>
            <a:ext cx="2925348" cy="17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Route and enforce policies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422222" y="2333709"/>
            <a:ext cx="2384795" cy="298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Coordinator Agent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8422222" y="2716611"/>
            <a:ext cx="2851155" cy="17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Classify intent and orchestrate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458788" y="1639452"/>
            <a:ext cx="2384795" cy="298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Service Agents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918234" y="2022354"/>
            <a:ext cx="2925348" cy="17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Accounts, Transactions, Services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61475" y="6159996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Main Flow — Left to Right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61475" y="6335613"/>
            <a:ext cx="330688" cy="496094"/>
          </a:xfrm>
          <a:prstGeom prst="roundRect">
            <a:avLst>
              <a:gd name="adj" fmla="val 5000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33437" y="6418263"/>
            <a:ext cx="496160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Entry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033437" y="6588720"/>
            <a:ext cx="4961607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→ Bank Identity Provider → API Gateway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661475" y="6872982"/>
            <a:ext cx="330688" cy="496094"/>
          </a:xfrm>
          <a:prstGeom prst="roundRect">
            <a:avLst>
              <a:gd name="adj" fmla="val 5000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33437" y="6955631"/>
            <a:ext cx="496160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Orchestration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033437" y="7126089"/>
            <a:ext cx="4961607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Coordinator Agent: intent classification + routing + response synthesis</a:t>
            </a:r>
            <a:endParaRPr lang="en-US" sz="650" dirty="0"/>
          </a:p>
        </p:txBody>
      </p:sp>
      <p:sp>
        <p:nvSpPr>
          <p:cNvPr id="25" name="Shape 22"/>
          <p:cNvSpPr/>
          <p:nvPr/>
        </p:nvSpPr>
        <p:spPr>
          <a:xfrm>
            <a:off x="661475" y="7410351"/>
            <a:ext cx="330688" cy="496094"/>
          </a:xfrm>
          <a:prstGeom prst="roundRect">
            <a:avLst>
              <a:gd name="adj" fmla="val 5000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33437" y="7493000"/>
            <a:ext cx="496160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Specialists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033437" y="7663458"/>
            <a:ext cx="4961607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Accounts · Transaction · Service Agents — domain-isolated, least-privilege</a:t>
            </a:r>
            <a:endParaRPr lang="en-US" sz="650" dirty="0"/>
          </a:p>
        </p:txBody>
      </p:sp>
      <p:sp>
        <p:nvSpPr>
          <p:cNvPr id="28" name="Shape 25"/>
          <p:cNvSpPr/>
          <p:nvPr/>
        </p:nvSpPr>
        <p:spPr>
          <a:xfrm>
            <a:off x="661475" y="7947720"/>
            <a:ext cx="330688" cy="496094"/>
          </a:xfrm>
          <a:prstGeom prst="roundRect">
            <a:avLst>
              <a:gd name="adj" fmla="val 5000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33437" y="8030369"/>
            <a:ext cx="496160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Tool boundary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033437" y="8200827"/>
            <a:ext cx="4961607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Accounts MCP · Transactions MCP · Service MCP → Banking APIs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6203001" y="6159996"/>
            <a:ext cx="533356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Cross-Cutting Vertical Layers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6203001" y="6335613"/>
            <a:ext cx="2646098" cy="447576"/>
          </a:xfrm>
          <a:prstGeom prst="roundRect">
            <a:avLst>
              <a:gd name="adj" fmla="val 776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291998" y="6424613"/>
            <a:ext cx="2468104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Session Store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291998" y="6595070"/>
            <a:ext cx="2468104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Conversation history + inter-agent state</a:t>
            </a:r>
            <a:endParaRPr lang="en-US" sz="650" dirty="0"/>
          </a:p>
        </p:txBody>
      </p:sp>
      <p:sp>
        <p:nvSpPr>
          <p:cNvPr id="35" name="Shape 32"/>
          <p:cNvSpPr/>
          <p:nvPr/>
        </p:nvSpPr>
        <p:spPr>
          <a:xfrm>
            <a:off x="8890373" y="6335613"/>
            <a:ext cx="2646197" cy="447576"/>
          </a:xfrm>
          <a:prstGeom prst="roundRect">
            <a:avLst>
              <a:gd name="adj" fmla="val 776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979370" y="6424613"/>
            <a:ext cx="2468203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PII Redaction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8979370" y="6595070"/>
            <a:ext cx="2468203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Before model context and all logs</a:t>
            </a:r>
            <a:endParaRPr lang="en-US" sz="650" dirty="0"/>
          </a:p>
        </p:txBody>
      </p:sp>
      <p:sp>
        <p:nvSpPr>
          <p:cNvPr id="38" name="Shape 35"/>
          <p:cNvSpPr/>
          <p:nvPr/>
        </p:nvSpPr>
        <p:spPr>
          <a:xfrm>
            <a:off x="6203001" y="6824464"/>
            <a:ext cx="2646098" cy="447576"/>
          </a:xfrm>
          <a:prstGeom prst="roundRect">
            <a:avLst>
              <a:gd name="adj" fmla="val 776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291998" y="6913463"/>
            <a:ext cx="2468104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Evaluation Suite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6291998" y="7083921"/>
            <a:ext cx="2468104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Routing + tool selection correctness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8890373" y="6824464"/>
            <a:ext cx="2646197" cy="447576"/>
          </a:xfrm>
          <a:prstGeom prst="roundRect">
            <a:avLst>
              <a:gd name="adj" fmla="val 776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979370" y="6913463"/>
            <a:ext cx="2468203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Observability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8979370" y="7083921"/>
            <a:ext cx="2468203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request trace with latency + decision log</a:t>
            </a:r>
            <a:endParaRPr lang="en-US" sz="650" dirty="0"/>
          </a:p>
        </p:txBody>
      </p:sp>
      <p:sp>
        <p:nvSpPr>
          <p:cNvPr id="44" name="Shape 41"/>
          <p:cNvSpPr/>
          <p:nvPr/>
        </p:nvSpPr>
        <p:spPr>
          <a:xfrm>
            <a:off x="6203001" y="7313315"/>
            <a:ext cx="2646098" cy="447576"/>
          </a:xfrm>
          <a:prstGeom prst="roundRect">
            <a:avLst>
              <a:gd name="adj" fmla="val 776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291998" y="7402314"/>
            <a:ext cx="2468104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Cost Tracker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6291998" y="7572772"/>
            <a:ext cx="2468104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Token + tool call accounting per interaction</a:t>
            </a:r>
            <a:endParaRPr lang="en-US" sz="650" dirty="0"/>
          </a:p>
        </p:txBody>
      </p:sp>
      <p:sp>
        <p:nvSpPr>
          <p:cNvPr id="47" name="Shape 44"/>
          <p:cNvSpPr/>
          <p:nvPr/>
        </p:nvSpPr>
        <p:spPr>
          <a:xfrm>
            <a:off x="8890373" y="7313315"/>
            <a:ext cx="2646197" cy="447576"/>
          </a:xfrm>
          <a:prstGeom prst="roundRect">
            <a:avLst>
              <a:gd name="adj" fmla="val 776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979370" y="7402314"/>
            <a:ext cx="2468203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LLM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8979370" y="7572772"/>
            <a:ext cx="2468203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Shared model layer: coordinator + all specialists</a:t>
            </a:r>
            <a:endParaRPr lang="en-US" sz="650" dirty="0"/>
          </a:p>
        </p:txBody>
      </p:sp>
      <p:sp>
        <p:nvSpPr>
          <p:cNvPr id="50" name="Shape 47"/>
          <p:cNvSpPr/>
          <p:nvPr/>
        </p:nvSpPr>
        <p:spPr>
          <a:xfrm>
            <a:off x="661475" y="8536682"/>
            <a:ext cx="10868745" cy="218877"/>
          </a:xfrm>
          <a:prstGeom prst="roundRect">
            <a:avLst>
              <a:gd name="adj" fmla="val 15868"/>
            </a:avLst>
          </a:prstGeom>
          <a:solidFill>
            <a:srgbClr val="B6FCB8"/>
          </a:solidFill>
          <a:ln/>
        </p:spPr>
      </p:sp>
      <p:pic>
        <p:nvPicPr>
          <p:cNvPr id="5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122" y="8598595"/>
            <a:ext cx="103284" cy="82649"/>
          </a:xfrm>
          <a:prstGeom prst="rect">
            <a:avLst/>
          </a:prstGeom>
        </p:spPr>
      </p:pic>
      <p:sp>
        <p:nvSpPr>
          <p:cNvPr id="52" name="Text 48"/>
          <p:cNvSpPr/>
          <p:nvPr/>
        </p:nvSpPr>
        <p:spPr>
          <a:xfrm>
            <a:off x="930053" y="8598595"/>
            <a:ext cx="11127104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No component appears without a reason.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Each was introduced to solve a specific, demonstrated problem. The architecture should feel inevitable — not complex.</a:t>
            </a:r>
            <a:endParaRPr lang="en-US" sz="650" dirty="0"/>
          </a:p>
        </p:txBody>
      </p:sp>
      <p:sp>
        <p:nvSpPr>
          <p:cNvPr id="53" name="Shape 49"/>
          <p:cNvSpPr/>
          <p:nvPr/>
        </p:nvSpPr>
        <p:spPr>
          <a:xfrm>
            <a:off x="661475" y="8801993"/>
            <a:ext cx="10868745" cy="218877"/>
          </a:xfrm>
          <a:prstGeom prst="roundRect">
            <a:avLst>
              <a:gd name="adj" fmla="val 15868"/>
            </a:avLst>
          </a:prstGeom>
          <a:solidFill>
            <a:srgbClr val="E1E1EA"/>
          </a:solidFill>
          <a:ln/>
        </p:spPr>
      </p:sp>
      <p:pic>
        <p:nvPicPr>
          <p:cNvPr id="5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122" y="8863905"/>
            <a:ext cx="103284" cy="82649"/>
          </a:xfrm>
          <a:prstGeom prst="rect">
            <a:avLst/>
          </a:prstGeom>
        </p:spPr>
      </p:pic>
      <p:sp>
        <p:nvSpPr>
          <p:cNvPr id="55" name="Text 50"/>
          <p:cNvSpPr/>
          <p:nvPr/>
        </p:nvSpPr>
        <p:spPr>
          <a:xfrm>
            <a:off x="930053" y="8863905"/>
            <a:ext cx="11127104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Speaker note: This is the payoff slide. Demo: walk one end-to-end request — "What is my balance and show me my last 5 transactions?" — through every layer of the final architecture.</a:t>
            </a:r>
            <a:endParaRPr lang="en-US" sz="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Build Roadmap: 10 Steps to Production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61475" y="795933"/>
            <a:ext cx="888382" cy="125710"/>
          </a:xfrm>
          <a:prstGeom prst="roundRect">
            <a:avLst>
              <a:gd name="adj" fmla="val 22103"/>
            </a:avLst>
          </a:prstGeom>
          <a:solidFill>
            <a:srgbClr val="E1E1EA"/>
          </a:solidFill>
          <a:ln/>
        </p:spPr>
      </p:sp>
      <p:sp>
        <p:nvSpPr>
          <p:cNvPr id="4" name="Text 2"/>
          <p:cNvSpPr/>
          <p:nvPr/>
        </p:nvSpPr>
        <p:spPr>
          <a:xfrm>
            <a:off x="711083" y="820738"/>
            <a:ext cx="1398751" cy="76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CLAUDE CODE BLUEPRINT</a:t>
            </a:r>
            <a:endParaRPr lang="en-US" sz="500" dirty="0"/>
          </a:p>
        </p:txBody>
      </p:sp>
      <p:sp>
        <p:nvSpPr>
          <p:cNvPr id="5" name="Text 3"/>
          <p:cNvSpPr/>
          <p:nvPr/>
        </p:nvSpPr>
        <p:spPr>
          <a:xfrm>
            <a:off x="661475" y="1009352"/>
            <a:ext cx="588699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10-Step Incremental Build Sequence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1475" y="1184970"/>
            <a:ext cx="165294" cy="103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661475" y="1312664"/>
            <a:ext cx="5886997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8" name="Text 6"/>
          <p:cNvSpPr/>
          <p:nvPr/>
        </p:nvSpPr>
        <p:spPr>
          <a:xfrm>
            <a:off x="661475" y="1379339"/>
            <a:ext cx="588699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Simple chat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61475" y="1549797"/>
            <a:ext cx="5886997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UI → API → Agent → LLM. No tools. Establish the baseline pipeline.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661475" y="1752203"/>
            <a:ext cx="165294" cy="103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661475" y="1879898"/>
            <a:ext cx="5886997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2" name="Text 10"/>
          <p:cNvSpPr/>
          <p:nvPr/>
        </p:nvSpPr>
        <p:spPr>
          <a:xfrm>
            <a:off x="661475" y="1946573"/>
            <a:ext cx="588699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One tool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61475" y="2117030"/>
            <a:ext cx="5886997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Balance Enquiry. Prove the tool-call loop works end-to-end.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661475" y="2319437"/>
            <a:ext cx="165294" cy="103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661475" y="2447131"/>
            <a:ext cx="5886997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6" name="Text 14"/>
          <p:cNvSpPr/>
          <p:nvPr/>
        </p:nvSpPr>
        <p:spPr>
          <a:xfrm>
            <a:off x="661475" y="2513806"/>
            <a:ext cx="588699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Multiple tools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61475" y="2684264"/>
            <a:ext cx="5886997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all six banking APIs. Surface the "too much access" problem deliberately.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661475" y="2886670"/>
            <a:ext cx="165294" cy="103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661475" y="3014365"/>
            <a:ext cx="5886997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0" name="Text 18"/>
          <p:cNvSpPr/>
          <p:nvPr/>
        </p:nvSpPr>
        <p:spPr>
          <a:xfrm>
            <a:off x="661475" y="3081040"/>
            <a:ext cx="588699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Specialist agents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61475" y="3251498"/>
            <a:ext cx="5886997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Split into Accounts / Transaction / Service agents. Prove domain isolation.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661475" y="3453904"/>
            <a:ext cx="165294" cy="103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661475" y="3581598"/>
            <a:ext cx="5886997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4" name="Text 22"/>
          <p:cNvSpPr/>
          <p:nvPr/>
        </p:nvSpPr>
        <p:spPr>
          <a:xfrm>
            <a:off x="661475" y="3648273"/>
            <a:ext cx="588699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Coordinator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61475" y="3818731"/>
            <a:ext cx="5886997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routing layer. Prove multi-domain requests work end-to-end.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661475" y="4021138"/>
            <a:ext cx="165294" cy="103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06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661475" y="4148832"/>
            <a:ext cx="5886997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8" name="Text 26"/>
          <p:cNvSpPr/>
          <p:nvPr/>
        </p:nvSpPr>
        <p:spPr>
          <a:xfrm>
            <a:off x="661475" y="4215507"/>
            <a:ext cx="588699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MCP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61475" y="4385965"/>
            <a:ext cx="5886997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Introduce MCP servers as tool boundaries. Prove decoupling works.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661475" y="4588371"/>
            <a:ext cx="165294" cy="103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07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661475" y="4716066"/>
            <a:ext cx="5886997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2" name="Text 30"/>
          <p:cNvSpPr/>
          <p:nvPr/>
        </p:nvSpPr>
        <p:spPr>
          <a:xfrm>
            <a:off x="661475" y="4782741"/>
            <a:ext cx="588699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Authentication + session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61475" y="4953198"/>
            <a:ext cx="5886997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identity provider and session store. Prove stateful, scoped access.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661475" y="5155605"/>
            <a:ext cx="165294" cy="103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08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661475" y="5283299"/>
            <a:ext cx="5886997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6" name="Text 34"/>
          <p:cNvSpPr/>
          <p:nvPr/>
        </p:nvSpPr>
        <p:spPr>
          <a:xfrm>
            <a:off x="661475" y="5349974"/>
            <a:ext cx="588699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PII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61475" y="5520432"/>
            <a:ext cx="5886997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redaction layer. Prove sensitive data does not reach the model unfiltered.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661475" y="5722838"/>
            <a:ext cx="165294" cy="103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09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661475" y="5850533"/>
            <a:ext cx="5886997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40" name="Text 38"/>
          <p:cNvSpPr/>
          <p:nvPr/>
        </p:nvSpPr>
        <p:spPr>
          <a:xfrm>
            <a:off x="661475" y="5917208"/>
            <a:ext cx="588699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Evaluation + observability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61475" y="6087666"/>
            <a:ext cx="5886997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test suite and tracing. Prove the system is debuggable and correct.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661475" y="6290072"/>
            <a:ext cx="165294" cy="103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10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661475" y="6417766"/>
            <a:ext cx="5886997" cy="127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44" name="Text 42"/>
          <p:cNvSpPr/>
          <p:nvPr/>
        </p:nvSpPr>
        <p:spPr>
          <a:xfrm>
            <a:off x="661475" y="6484441"/>
            <a:ext cx="5886997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Cost + infrastructure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61475" y="6654899"/>
            <a:ext cx="5886997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cost tracking and runtime health monitoring. Prove production readiness.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6756429" y="1009352"/>
            <a:ext cx="4780041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Claude Code Handoff Rule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756429" y="1184970"/>
            <a:ext cx="4780041" cy="214809"/>
          </a:xfrm>
          <a:prstGeom prst="roundRect">
            <a:avLst>
              <a:gd name="adj" fmla="val 16169"/>
            </a:avLst>
          </a:prstGeom>
          <a:solidFill>
            <a:srgbClr val="E1E1EA"/>
          </a:solidFill>
          <a:ln/>
        </p:spPr>
      </p:sp>
      <p:pic>
        <p:nvPicPr>
          <p:cNvPr id="4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9077" y="1250752"/>
            <a:ext cx="103284" cy="82649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7025008" y="1242814"/>
            <a:ext cx="5038401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Give Claude Code one step at a time.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Do not build the final architecture in one pass.</a:t>
            </a:r>
            <a:endParaRPr lang="en-US" sz="650" dirty="0"/>
          </a:p>
        </p:txBody>
      </p:sp>
      <p:sp>
        <p:nvSpPr>
          <p:cNvPr id="50" name="Text 47"/>
          <p:cNvSpPr/>
          <p:nvPr/>
        </p:nvSpPr>
        <p:spPr>
          <a:xfrm>
            <a:off x="6756429" y="1446212"/>
            <a:ext cx="5389626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step requires all six of the following before moving to the next:</a:t>
            </a:r>
            <a:endParaRPr lang="en-US" sz="650" dirty="0"/>
          </a:p>
        </p:txBody>
      </p:sp>
      <p:pic>
        <p:nvPicPr>
          <p:cNvPr id="5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56429" y="1591766"/>
            <a:ext cx="4780041" cy="460276"/>
          </a:xfrm>
          <a:prstGeom prst="rect">
            <a:avLst/>
          </a:prstGeom>
        </p:spPr>
      </p:pic>
      <p:sp>
        <p:nvSpPr>
          <p:cNvPr id="52" name="Text 48"/>
          <p:cNvSpPr/>
          <p:nvPr/>
        </p:nvSpPr>
        <p:spPr>
          <a:xfrm>
            <a:off x="6902575" y="1687116"/>
            <a:ext cx="453854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Files changed</a:t>
            </a:r>
            <a:endParaRPr lang="en-US" sz="800" dirty="0"/>
          </a:p>
        </p:txBody>
      </p:sp>
      <p:sp>
        <p:nvSpPr>
          <p:cNvPr id="53" name="Text 49"/>
          <p:cNvSpPr/>
          <p:nvPr/>
        </p:nvSpPr>
        <p:spPr>
          <a:xfrm>
            <a:off x="6902575" y="1857573"/>
            <a:ext cx="4538549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Exact list of files created or modified in this step.</a:t>
            </a:r>
            <a:endParaRPr lang="en-US" sz="650" dirty="0"/>
          </a:p>
        </p:txBody>
      </p:sp>
      <p:pic>
        <p:nvPicPr>
          <p:cNvPr id="5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56429" y="2093317"/>
            <a:ext cx="4780041" cy="460276"/>
          </a:xfrm>
          <a:prstGeom prst="rect">
            <a:avLst/>
          </a:prstGeom>
        </p:spPr>
      </p:pic>
      <p:sp>
        <p:nvSpPr>
          <p:cNvPr id="55" name="Text 50"/>
          <p:cNvSpPr/>
          <p:nvPr/>
        </p:nvSpPr>
        <p:spPr>
          <a:xfrm>
            <a:off x="6902575" y="2188666"/>
            <a:ext cx="453854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Architecture change</a:t>
            </a:r>
            <a:endParaRPr lang="en-US" sz="800" dirty="0"/>
          </a:p>
        </p:txBody>
      </p:sp>
      <p:sp>
        <p:nvSpPr>
          <p:cNvPr id="56" name="Text 51"/>
          <p:cNvSpPr/>
          <p:nvPr/>
        </p:nvSpPr>
        <p:spPr>
          <a:xfrm>
            <a:off x="6902575" y="2359124"/>
            <a:ext cx="4538549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component was added, removed, or modified — and why.</a:t>
            </a:r>
            <a:endParaRPr lang="en-US" sz="650" dirty="0"/>
          </a:p>
        </p:txBody>
      </p:sp>
      <p:pic>
        <p:nvPicPr>
          <p:cNvPr id="5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56429" y="2594868"/>
            <a:ext cx="4780041" cy="460276"/>
          </a:xfrm>
          <a:prstGeom prst="rect">
            <a:avLst/>
          </a:prstGeom>
        </p:spPr>
      </p:pic>
      <p:sp>
        <p:nvSpPr>
          <p:cNvPr id="58" name="Text 52"/>
          <p:cNvSpPr/>
          <p:nvPr/>
        </p:nvSpPr>
        <p:spPr>
          <a:xfrm>
            <a:off x="6902575" y="2690217"/>
            <a:ext cx="453854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Demo prompt</a:t>
            </a:r>
            <a:endParaRPr lang="en-US" sz="800" dirty="0"/>
          </a:p>
        </p:txBody>
      </p:sp>
      <p:sp>
        <p:nvSpPr>
          <p:cNvPr id="59" name="Text 53"/>
          <p:cNvSpPr/>
          <p:nvPr/>
        </p:nvSpPr>
        <p:spPr>
          <a:xfrm>
            <a:off x="6902575" y="2860675"/>
            <a:ext cx="4538549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exact user input that exercises the new capability.</a:t>
            </a:r>
            <a:endParaRPr lang="en-US" sz="650" dirty="0"/>
          </a:p>
        </p:txBody>
      </p:sp>
      <p:pic>
        <p:nvPicPr>
          <p:cNvPr id="60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56429" y="3096419"/>
            <a:ext cx="4780041" cy="460276"/>
          </a:xfrm>
          <a:prstGeom prst="rect">
            <a:avLst/>
          </a:prstGeom>
        </p:spPr>
      </p:pic>
      <p:sp>
        <p:nvSpPr>
          <p:cNvPr id="61" name="Text 54"/>
          <p:cNvSpPr/>
          <p:nvPr/>
        </p:nvSpPr>
        <p:spPr>
          <a:xfrm>
            <a:off x="6902575" y="3191768"/>
            <a:ext cx="453854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Expected output</a:t>
            </a:r>
            <a:endParaRPr lang="en-US" sz="800" dirty="0"/>
          </a:p>
        </p:txBody>
      </p:sp>
      <p:sp>
        <p:nvSpPr>
          <p:cNvPr id="62" name="Text 55"/>
          <p:cNvSpPr/>
          <p:nvPr/>
        </p:nvSpPr>
        <p:spPr>
          <a:xfrm>
            <a:off x="6902575" y="3362226"/>
            <a:ext cx="4538549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the agent must return for the demo prompt to pass.</a:t>
            </a:r>
            <a:endParaRPr lang="en-US" sz="650" dirty="0"/>
          </a:p>
        </p:txBody>
      </p:sp>
      <p:pic>
        <p:nvPicPr>
          <p:cNvPr id="63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56429" y="3597970"/>
            <a:ext cx="4780041" cy="460276"/>
          </a:xfrm>
          <a:prstGeom prst="rect">
            <a:avLst/>
          </a:prstGeom>
        </p:spPr>
      </p:pic>
      <p:sp>
        <p:nvSpPr>
          <p:cNvPr id="64" name="Text 56"/>
          <p:cNvSpPr/>
          <p:nvPr/>
        </p:nvSpPr>
        <p:spPr>
          <a:xfrm>
            <a:off x="6902575" y="3693319"/>
            <a:ext cx="453854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Failure case</a:t>
            </a:r>
            <a:endParaRPr lang="en-US" sz="800" dirty="0"/>
          </a:p>
        </p:txBody>
      </p:sp>
      <p:sp>
        <p:nvSpPr>
          <p:cNvPr id="65" name="Text 57"/>
          <p:cNvSpPr/>
          <p:nvPr/>
        </p:nvSpPr>
        <p:spPr>
          <a:xfrm>
            <a:off x="6902575" y="3863777"/>
            <a:ext cx="4538549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the agent returns if this step is implemented incorrectly.</a:t>
            </a:r>
            <a:endParaRPr lang="en-US" sz="650" dirty="0"/>
          </a:p>
        </p:txBody>
      </p:sp>
      <p:pic>
        <p:nvPicPr>
          <p:cNvPr id="66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756429" y="4099520"/>
            <a:ext cx="4780041" cy="460276"/>
          </a:xfrm>
          <a:prstGeom prst="rect">
            <a:avLst/>
          </a:prstGeom>
        </p:spPr>
      </p:pic>
      <p:sp>
        <p:nvSpPr>
          <p:cNvPr id="67" name="Text 58"/>
          <p:cNvSpPr/>
          <p:nvPr/>
        </p:nvSpPr>
        <p:spPr>
          <a:xfrm>
            <a:off x="6902575" y="4194870"/>
            <a:ext cx="4538549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Regression test</a:t>
            </a:r>
            <a:endParaRPr lang="en-US" sz="800" dirty="0"/>
          </a:p>
        </p:txBody>
      </p:sp>
      <p:sp>
        <p:nvSpPr>
          <p:cNvPr id="68" name="Text 59"/>
          <p:cNvSpPr/>
          <p:nvPr/>
        </p:nvSpPr>
        <p:spPr>
          <a:xfrm>
            <a:off x="6902575" y="4365327"/>
            <a:ext cx="4538549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prior baseline prompts must still pass after this step is added.</a:t>
            </a:r>
            <a:endParaRPr lang="en-US" sz="650" dirty="0"/>
          </a:p>
        </p:txBody>
      </p:sp>
      <p:sp>
        <p:nvSpPr>
          <p:cNvPr id="69" name="Shape 60"/>
          <p:cNvSpPr/>
          <p:nvPr/>
        </p:nvSpPr>
        <p:spPr>
          <a:xfrm>
            <a:off x="6756429" y="4606230"/>
            <a:ext cx="4780041" cy="313928"/>
          </a:xfrm>
          <a:prstGeom prst="roundRect">
            <a:avLst>
              <a:gd name="adj" fmla="val 11064"/>
            </a:avLst>
          </a:prstGeom>
          <a:solidFill>
            <a:srgbClr val="E1E1EA"/>
          </a:solidFill>
          <a:ln/>
        </p:spPr>
      </p:sp>
      <p:pic>
        <p:nvPicPr>
          <p:cNvPr id="70" name="Image 7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39077" y="4672013"/>
            <a:ext cx="103284" cy="82649"/>
          </a:xfrm>
          <a:prstGeom prst="rect">
            <a:avLst/>
          </a:prstGeom>
        </p:spPr>
      </p:pic>
      <p:sp>
        <p:nvSpPr>
          <p:cNvPr id="71" name="Text 61"/>
          <p:cNvSpPr/>
          <p:nvPr/>
        </p:nvSpPr>
        <p:spPr>
          <a:xfrm>
            <a:off x="7025008" y="4664075"/>
            <a:ext cx="4428816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Speaker note: This roadmap is the exact sequence for the Claude Code implementation. The presentation and the build stay in sync — every slide corresponds to a build milestone.</a:t>
            </a:r>
            <a:endParaRPr lang="en-US" sz="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9551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Sources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3042940"/>
            <a:ext cx="10868745" cy="1619448"/>
          </a:xfrm>
          <a:prstGeom prst="roundRect">
            <a:avLst>
              <a:gd name="adj" fmla="val 4289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5819" y="3227288"/>
            <a:ext cx="1050005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Primary Reference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5819" y="3584972"/>
            <a:ext cx="10500058" cy="893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u="sng" dirty="0">
                <a:solidFill>
                  <a:srgbClr val="1B1B27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Banking-Agent.docx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 document providing technical architecture details, banking domain definitions, tool specifications, and implementation examples used throughout this presentation.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B1B27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2026-09-09T06:47:30Z</dcterms:created>
  <dcterms:modified xsi:type="dcterms:W3CDTF">2026-09-09T06:47:30Z</dcterms:modified>
</cp:coreProperties>
</file>